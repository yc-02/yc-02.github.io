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300">
        <a:latin typeface="+mn-lt"/>
        <a:ea typeface="+mn-ea"/>
        <a:cs typeface="+mn-cs"/>
        <a:sym typeface="Calibri"/>
      </a:defRPr>
    </a:lvl1pPr>
    <a:lvl2pPr indent="228600" defTabSz="457200" latinLnBrk="0">
      <a:defRPr sz="2300">
        <a:latin typeface="+mn-lt"/>
        <a:ea typeface="+mn-ea"/>
        <a:cs typeface="+mn-cs"/>
        <a:sym typeface="Calibri"/>
      </a:defRPr>
    </a:lvl2pPr>
    <a:lvl3pPr indent="457200" defTabSz="457200" latinLnBrk="0">
      <a:defRPr sz="2300">
        <a:latin typeface="+mn-lt"/>
        <a:ea typeface="+mn-ea"/>
        <a:cs typeface="+mn-cs"/>
        <a:sym typeface="Calibri"/>
      </a:defRPr>
    </a:lvl3pPr>
    <a:lvl4pPr indent="685800" defTabSz="457200" latinLnBrk="0">
      <a:defRPr sz="2300">
        <a:latin typeface="+mn-lt"/>
        <a:ea typeface="+mn-ea"/>
        <a:cs typeface="+mn-cs"/>
        <a:sym typeface="Calibri"/>
      </a:defRPr>
    </a:lvl4pPr>
    <a:lvl5pPr indent="914400" defTabSz="457200" latinLnBrk="0">
      <a:defRPr sz="2300">
        <a:latin typeface="+mn-lt"/>
        <a:ea typeface="+mn-ea"/>
        <a:cs typeface="+mn-cs"/>
        <a:sym typeface="Calibri"/>
      </a:defRPr>
    </a:lvl5pPr>
    <a:lvl6pPr indent="1143000" defTabSz="457200" latinLnBrk="0">
      <a:defRPr sz="2300">
        <a:latin typeface="+mn-lt"/>
        <a:ea typeface="+mn-ea"/>
        <a:cs typeface="+mn-cs"/>
        <a:sym typeface="Calibri"/>
      </a:defRPr>
    </a:lvl6pPr>
    <a:lvl7pPr indent="1371600" defTabSz="457200" latinLnBrk="0">
      <a:defRPr sz="2300">
        <a:latin typeface="+mn-lt"/>
        <a:ea typeface="+mn-ea"/>
        <a:cs typeface="+mn-cs"/>
        <a:sym typeface="Calibri"/>
      </a:defRPr>
    </a:lvl7pPr>
    <a:lvl8pPr indent="1600200" defTabSz="457200" latinLnBrk="0">
      <a:defRPr sz="2300">
        <a:latin typeface="+mn-lt"/>
        <a:ea typeface="+mn-ea"/>
        <a:cs typeface="+mn-cs"/>
        <a:sym typeface="Calibri"/>
      </a:defRPr>
    </a:lvl8pPr>
    <a:lvl9pPr indent="1828800" defTabSz="457200" latinLnBrk="0">
      <a:defRPr sz="23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" name="Shape 1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Literature review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" name="Shape 1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Biomedical research now generates large-scale datasets that capture many different types of biological relationships. Such as genomic sequences, clinical records, chemical structures, and protein interactions.</a:t>
            </a:r>
          </a:p>
          <a:p>
            <a:pPr marL="307473" indent="-307473">
              <a:buSzPct val="100000"/>
              <a:buAutoNum type="arabicPeriod" startAt="1"/>
            </a:pPr>
            <a:r>
              <a:t>And researchers are trying to answer the key question: how do these biological entities relate to each other?</a:t>
            </a:r>
          </a:p>
          <a:p>
            <a:pPr marL="307473" indent="-307473">
              <a:buSzPct val="100000"/>
              <a:buAutoNum type="arabicPeriod" startAt="1"/>
            </a:pPr>
            <a:r>
              <a:t>Take Alzheimer's disease as an example. Could any existing drugs that were developed for a completely different disease work for Alzheimer's?</a:t>
            </a:r>
          </a:p>
          <a:p>
            <a:pPr marL="307473" indent="-307473">
              <a:buSzPct val="100000"/>
              <a:buAutoNum type="arabicPeriod" startAt="1"/>
            </a:pPr>
            <a:r>
              <a:t>Finding these relationships computationally can help identify new treatments more quickly and at lower cost. </a:t>
            </a:r>
          </a:p>
          <a:p>
            <a:pPr marL="307473" indent="-307473">
              <a:buSzPct val="100000"/>
              <a:buAutoNum type="arabicPeriod" startAt="1"/>
            </a:pPr>
            <a:r>
              <a:t>And today, I will be talking about how GNNs can predict these relationships.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Shape 1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First, let's look at the basic idea behind GNNs for biomedical data.</a:t>
            </a:r>
          </a:p>
          <a:p>
            <a:pPr marL="307473" indent="-307473">
              <a:buSzPct val="100000"/>
              <a:buAutoNum type="arabicPeriod" startAt="1"/>
            </a:pPr>
            <a:r>
              <a:t>Biomedical data can be modeled as a graph — some of it is naturally graph-like. </a:t>
            </a:r>
          </a:p>
          <a:p>
            <a:pPr marL="307473" indent="-307473">
              <a:buSzPct val="100000"/>
              <a:buAutoNum type="arabicPeriod" startAt="1"/>
            </a:pPr>
            <a:r>
              <a:t>Nodes are entities such as drugs, diseases, and genes. Edges are the relationships between them — For example, Drug A targets a gene, and that gene is linked to a disease.</a:t>
            </a:r>
          </a:p>
          <a:p>
            <a:pPr marL="307473" indent="-307473">
              <a:buSzPct val="100000"/>
              <a:buAutoNum type="arabicPeriod" startAt="1"/>
            </a:pPr>
            <a:r>
              <a:t>GNNs are neural networks designed to work on graph-structured data.</a:t>
            </a:r>
          </a:p>
          <a:p>
            <a:pPr marL="307473" indent="-307473">
              <a:buSzPct val="100000"/>
              <a:buAutoNum type="arabicPeriod" startAt="1"/>
            </a:pPr>
            <a:r>
              <a:t>CNNs learn patterns from nearby pixels in a regular image grid. GNNs also learn from local neighborhoods, but the neighborhoods are graph neighbors instead of pixels.</a:t>
            </a:r>
          </a:p>
          <a:p>
            <a:pPr marL="307473" indent="-307473">
              <a:buSzPct val="100000"/>
              <a:buAutoNum type="arabicPeriod" startAt="1"/>
            </a:pPr>
            <a:r>
              <a:t>The difference is that graphs are irregular. Each node can have a different number of neighbors. </a:t>
            </a:r>
          </a:p>
          <a:p>
            <a:pPr marL="307473" indent="-307473">
              <a:buSzPct val="100000"/>
              <a:buAutoNum type="arabicPeriod" startAt="1"/>
            </a:pPr>
            <a:r>
              <a:t>GNNs handle this by passing messages between connected nodes. Each node learns from its neighbors, and this process repeats across multiple layers.</a:t>
            </a:r>
          </a:p>
          <a:p>
            <a:pPr marL="307473" indent="-307473">
              <a:buSzPct val="100000"/>
              <a:buAutoNum type="arabicPeriod" startAt="1"/>
            </a:pPr>
            <a:r>
              <a:t>This matters because biomedical graphs are irregular and highly interconnected. </a:t>
            </a:r>
          </a:p>
          <a:p>
            <a:pPr marL="307473" indent="-307473">
              <a:buSzPct val="100000"/>
              <a:buAutoNum type="arabicPeriod" startAt="1"/>
            </a:pPr>
            <a:r>
              <a:t>Some nodes may connect to many neighbors, while others connect to only a few. Many important biological relationships are also indirect. GNNs are designed to capture these complex patterns.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5" name="Shape 2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Standard GNNs generally treat all edges as the same type during message passing. One shared learnable transformation matrix for all edge types.</a:t>
            </a:r>
          </a:p>
          <a:p>
            <a:pPr marL="307473" indent="-307473">
              <a:buSzPct val="100000"/>
              <a:buAutoNum type="arabicPeriod" startAt="1"/>
            </a:pPr>
            <a:r>
              <a:t>However, in biomedical data, different relationship types carry very different biological meanings. </a:t>
            </a:r>
          </a:p>
          <a:p>
            <a:pPr marL="307473" indent="-307473">
              <a:buSzPct val="100000"/>
              <a:buAutoNum type="arabicPeriod" startAt="1"/>
            </a:pPr>
            <a:r>
              <a:t>Heterogeneous graph neural networks HGNNs solve this by using type-specific learnable transformation matrices for different edge types. </a:t>
            </a:r>
          </a:p>
          <a:p>
            <a:pPr marL="307473" indent="-307473">
              <a:buSzPct val="100000"/>
              <a:buAutoNum type="arabicPeriod" startAt="1"/>
            </a:pPr>
            <a:r>
              <a:t>In this paper, they benchmarked 9 HGNN models, which can be divided into two categories. The first category is GCN-based — like R-GCN and CompGCN </a:t>
            </a:r>
          </a:p>
          <a:p>
            <a:pPr marL="307473" indent="-307473">
              <a:buSzPct val="100000"/>
              <a:buAutoNum type="arabicPeriod" startAt="1"/>
            </a:pPr>
            <a:r>
              <a:t>The second category is GAT-based models, like R-GAT and HAN.</a:t>
            </a:r>
          </a:p>
          <a:p>
            <a:pPr marL="307473" indent="-307473">
              <a:buSzPct val="100000"/>
              <a:buAutoNum type="arabicPeriod" startAt="1"/>
            </a:pPr>
            <a:r>
              <a:t>GAT-based models go one step further by adding attention mechanisms. </a:t>
            </a:r>
          </a:p>
          <a:p>
            <a:pPr marL="307473" indent="-307473">
              <a:buSzPct val="100000"/>
              <a:buAutoNum type="arabicPeriod" startAt="1"/>
            </a:pPr>
            <a:r>
              <a:t>This allows the model not only to distinguish between edge types, but also to dynamically determine how much attention to assign to each neighboring node during aggregation.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7" name="Shape 2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They benchmarked 42 techniques in total: 9 HGNNs I just mentioned and 33 specialized biomedical models across 8 publicly available biomedical datasets.</a:t>
            </a:r>
          </a:p>
          <a:p>
            <a:pPr marL="307473" indent="-307473">
              <a:buSzPct val="100000"/>
              <a:buAutoNum type="arabicPeriod" startAt="1"/>
            </a:pPr>
            <a:r>
              <a:t>The main tasks are Drug-drug interaction, Drug-target interaction, Protein-protein interaction, and drug-disease association</a:t>
            </a:r>
          </a:p>
          <a:p>
            <a:pPr marL="307473" indent="-307473">
              <a:buSzPct val="100000"/>
              <a:buAutoNum type="arabicPeriod" startAt="1"/>
            </a:pPr>
            <a:r>
              <a:t>The key finding is quite surprising. Simple-HGN — a generic GAT-based model not specifically designed for biomedicine: achieved the best results on 4 out of 8 datasets.</a:t>
            </a:r>
          </a:p>
          <a:p>
            <a:pPr marL="307473" indent="-307473">
              <a:buSzPct val="100000"/>
              <a:buAutoNum type="arabicPeriod" startAt="1"/>
            </a:pPr>
            <a:r>
              <a:t>This showed that you don’t always need a highly specialized biomedical model; a well-tuned generic model can sometimes perform even better.</a:t>
            </a:r>
          </a:p>
          <a:p>
            <a:pPr/>
          </a:p>
          <a:p>
            <a:pPr/>
            <a:r>
              <a:t>Note: Drug-drug interaction — do two drugs interact when taken together? </a:t>
            </a:r>
          </a:p>
          <a:p>
            <a:pPr/>
            <a:r>
              <a:t>Drug-target interaction — does a drug bind to a specific protein? </a:t>
            </a:r>
          </a:p>
          <a:p>
            <a:pPr/>
            <a:r>
              <a:t>Protein-protein interaction — do two proteins bind to each other? </a:t>
            </a:r>
          </a:p>
          <a:p>
            <a:pPr/>
            <a:r>
              <a:t>And drug-disease association — can a drug be repurposed for a disease?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6" name="Shape 2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Let’s look at a more specific example. This paper highlighted R-GCN, which is a GCN-based HGNN.</a:t>
            </a:r>
          </a:p>
          <a:p>
            <a:pPr marL="307473" indent="-307473">
              <a:buSzPct val="100000"/>
              <a:buAutoNum type="arabicPeriod" startAt="1"/>
            </a:pPr>
            <a:r>
              <a:t>Their task was to predict which existing drugs could treat alzheimer’s disease, using link prediction on the knowledge graph.</a:t>
            </a:r>
          </a:p>
          <a:p>
            <a:pPr marL="307473" indent="-307473">
              <a:buSzPct val="100000"/>
              <a:buAutoNum type="arabicPeriod" startAt="1"/>
            </a:pPr>
            <a:r>
              <a:t>They built a biomedical knowledge graph called ADInt, containing over 1 million relationships across 15 relation types.</a:t>
            </a:r>
          </a:p>
          <a:p>
            <a:pPr marL="307473" indent="-307473">
              <a:buSzPct val="100000"/>
              <a:buAutoNum type="arabicPeriod" startAt="1"/>
            </a:pPr>
            <a:r>
              <a:t>They compared six models on this task. Among the six models, R-GCN achieved the best performance. Its MRR was 0.86.</a:t>
            </a:r>
          </a:p>
          <a:p>
            <a:pPr marL="307473" indent="-307473">
              <a:buSzPct val="100000"/>
              <a:buAutoNum type="arabicPeriod" startAt="1"/>
            </a:pPr>
            <a:r>
              <a:t>MRR, or Mean Reciprocal Rank, measures how highly the correct answer is ranked on average. The next best model achieved an MRR of 0.63, so R-GCN showed a substantial improvement.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0" name="Shape 2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They used the trained R-GCN model — which achieved the best performance — to generate candidate drugs for Alzheimer’s disease.</a:t>
            </a:r>
          </a:p>
          <a:p>
            <a:pPr marL="307473" indent="-307473">
              <a:buSzPct val="100000"/>
              <a:buAutoNum type="arabicPeriod" startAt="1"/>
            </a:pPr>
            <a:r>
              <a:t>These are two of the top predictions, </a:t>
            </a:r>
          </a:p>
          <a:p>
            <a:pPr marL="307473" indent="-307473">
              <a:buSzPct val="100000"/>
              <a:buAutoNum type="arabicPeriod" startAt="1"/>
            </a:pPr>
            <a:r>
              <a:t>The first drug ranked 6th and the second drug ranked 10th.</a:t>
            </a:r>
          </a:p>
          <a:p>
            <a:pPr marL="307473" indent="-307473">
              <a:buSzPct val="100000"/>
              <a:buAutoNum type="arabicPeriod" startAt="1"/>
            </a:pPr>
            <a:r>
              <a:t>Both were already registered in ClinicalTrials.</a:t>
            </a:r>
          </a:p>
          <a:p>
            <a:pPr marL="307473" indent="-307473">
              <a:buSzPct val="100000"/>
              <a:buAutoNum type="arabicPeriod" startAt="1"/>
            </a:pPr>
            <a:r>
              <a:t>This is a strong sign that the model is picking up a real biological signal.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5" name="Shape 3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Now I’ll move to a model called HetrosimGCN-GAT. The model was combined from two GNNs.</a:t>
            </a:r>
          </a:p>
          <a:p>
            <a:pPr marL="307473" indent="-307473">
              <a:buSzPct val="100000"/>
              <a:buAutoNum type="arabicPeriod" startAt="1"/>
            </a:pPr>
            <a:r>
              <a:t>The first component is GraphSAGE. Instead of using all neighbors, this model can sample a fixed number and aggregate their information to generate node embeddings. This makes it scale well to large graphs. </a:t>
            </a:r>
          </a:p>
          <a:p>
            <a:pPr marL="307473" indent="-307473">
              <a:buSzPct val="100000"/>
              <a:buAutoNum type="arabicPeriod" startAt="1"/>
            </a:pPr>
            <a:r>
              <a:t>The second component is GAT, which we mentioned earlier. GAT learns an attention weight for each neighbor.</a:t>
            </a:r>
          </a:p>
          <a:p>
            <a:pPr marL="307473" indent="-307473">
              <a:buSzPct val="100000"/>
              <a:buAutoNum type="arabicPeriod" startAt="1"/>
            </a:pPr>
            <a:r>
              <a:t>They work together in the same message-passing step. GraphSAGE samples neighbors, and GAT weights them.</a:t>
            </a:r>
          </a:p>
          <a:p>
            <a:pPr marL="307473" indent="-307473">
              <a:buSzPct val="100000"/>
              <a:buAutoNum type="arabicPeriod" startAt="1"/>
            </a:pPr>
            <a:r>
              <a:t>The dataset they used was BioKG, a large heterogeneous biomedical knowledge graph that has over 4.7 million training triples. </a:t>
            </a:r>
          </a:p>
          <a:p>
            <a:pPr marL="307473" indent="-307473">
              <a:buSzPct val="100000"/>
              <a:buAutoNum type="arabicPeriod" startAt="1"/>
            </a:pPr>
            <a:r>
              <a:t>Training triple means one single edge in the graph with its two connected nodes.</a:t>
            </a:r>
          </a:p>
          <a:p>
            <a:pPr marL="307473" indent="-307473">
              <a:buSzPct val="100000"/>
              <a:buAutoNum type="arabicPeriod" startAt="1"/>
            </a:pPr>
            <a:r>
              <a:t>They compare against three baselines — RA8, LINE, and Node2vec </a:t>
            </a:r>
          </a:p>
          <a:p>
            <a:pPr marL="307473" indent="-307473">
              <a:buSzPct val="100000"/>
              <a:buAutoNum type="arabicPeriod" startAt="1"/>
            </a:pPr>
          </a:p>
          <a:p>
            <a:pPr marL="307473" indent="-307473">
              <a:buSzPct val="100000"/>
              <a:buAutoNum type="arabicPeriod" startAt="9"/>
            </a:pPr>
            <a:r>
              <a:t>Note: (baselines are simpler graph embedding methods)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4" name="Shape 3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Now let's look at what this model actually achieves.</a:t>
            </a:r>
          </a:p>
          <a:p>
            <a:pPr marL="307473" indent="-307473">
              <a:buSzPct val="100000"/>
              <a:buAutoNum type="arabicPeriod" startAt="1"/>
            </a:pPr>
            <a:r>
              <a:t>The model is tested on two tasks — Drug-drug interaction and Drug-protein interaction</a:t>
            </a:r>
          </a:p>
          <a:p>
            <a:pPr marL="307473" indent="-307473">
              <a:buSzPct val="100000"/>
              <a:buAutoNum type="arabicPeriod" startAt="1"/>
            </a:pPr>
            <a:r>
              <a:t>Both tasks are trained simultaneously,  because BioKG already contains all the edges needed for both tasks.</a:t>
            </a:r>
          </a:p>
          <a:p>
            <a:pPr marL="307473" indent="-307473">
              <a:buSzPct val="100000"/>
              <a:buAutoNum type="arabicPeriod" startAt="1"/>
            </a:pPr>
            <a:r>
              <a:t>HetrosimGCN-GAT outperformed all three baselines on both tasks  </a:t>
            </a:r>
          </a:p>
          <a:p>
            <a:pPr marL="307473" indent="-307473">
              <a:buSzPct val="100000"/>
              <a:buAutoNum type="arabicPeriod" startAt="1"/>
            </a:pPr>
            <a:r>
              <a:t>The highlight here is that a single heterogeneous graph model can perform multiple prediction tasks simultaneously. </a:t>
            </a:r>
          </a:p>
          <a:p>
            <a:pPr marL="307473" indent="-307473">
              <a:buSzPct val="100000"/>
              <a:buAutoNum type="arabicPeriod" startAt="1"/>
            </a:pPr>
            <a:r>
              <a:t>The attention mechanism helps the model focus on the most useful relationship types for each task.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4" name="Shape 3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This paper focuses on another important idea: adding richer node features.</a:t>
            </a:r>
          </a:p>
          <a:p>
            <a:pPr marL="307473" indent="-307473">
              <a:buSzPct val="100000"/>
              <a:buAutoNum type="arabicPeriod" startAt="1"/>
            </a:pPr>
            <a:r>
              <a:t>Unlike models that learn node representations mainly from graph structure, DRAGON initializes node features using biologically meaningful drug and protein embeddings.</a:t>
            </a:r>
          </a:p>
          <a:p>
            <a:pPr marL="307473" indent="-307473">
              <a:buSzPct val="100000"/>
              <a:buAutoNum type="arabicPeriod" startAt="1"/>
            </a:pPr>
            <a:r>
              <a:t>DRAGON builds on DMSR- a GraphSAGE-based drug repurposing model, but gives the drug and protein nodes better starting information.</a:t>
            </a:r>
          </a:p>
          <a:p>
            <a:pPr marL="307473" indent="-307473">
              <a:buSzPct val="100000"/>
              <a:buAutoNum type="arabicPeriod" startAt="1"/>
            </a:pPr>
            <a:r>
              <a:t>For drug nodes, they use embeddings derived from molecular chemical structure, which encodes the chemical structure of a molecule as a string.</a:t>
            </a:r>
          </a:p>
          <a:p>
            <a:pPr marL="307473" indent="-307473">
              <a:buSzPct val="100000"/>
              <a:buAutoNum type="arabicPeriod" startAt="1"/>
            </a:pPr>
            <a:r>
              <a:t>For protein nodes, they use embeddings derived from amino acid sequence data.</a:t>
            </a:r>
          </a:p>
          <a:p>
            <a:pPr marL="307473" indent="-307473">
              <a:buSzPct val="100000"/>
              <a:buAutoNum type="arabicPeriod" startAt="1"/>
            </a:pPr>
            <a:r>
              <a:t>And they used DISNET, a heterogeneous biomedical knowledge graph, as their dataset. </a:t>
            </a:r>
          </a:p>
          <a:p>
            <a:pPr marL="307473" indent="-307473">
              <a:buSzPct val="100000"/>
              <a:buAutoNum type="arabicPeriod" startAt="1"/>
            </a:pPr>
            <a:r>
              <a:t>The task is drug-disease link prediction. The key question they are answering is: Do biological node features improve predictions, and which feature type helps more: drug structure or protein sequence?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4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9" name="Shape 4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The results come from an ablation study.</a:t>
            </a:r>
          </a:p>
          <a:p>
            <a:pPr marL="307473" indent="-307473">
              <a:buSzPct val="100000"/>
              <a:buAutoNum type="arabicPeriod" startAt="1"/>
            </a:pPr>
            <a:r>
              <a:t>They tested four different versions of the same model using PR-AUC.</a:t>
            </a:r>
          </a:p>
          <a:p>
            <a:pPr marL="307473" indent="-307473">
              <a:buSzPct val="100000"/>
              <a:buAutoNum type="arabicPeriod" startAt="1"/>
            </a:pPr>
            <a:r>
              <a:t>Using only the graph structure, without biological embeddings, the model achieves 0.917.</a:t>
            </a:r>
          </a:p>
          <a:p>
            <a:pPr marL="307473" indent="-307473">
              <a:buSzPct val="100000"/>
              <a:buAutoNum type="arabicPeriod" startAt="1"/>
            </a:pPr>
            <a:r>
              <a:t>Adding drug embeddings only gives a small improvement to 0.921; adding protein embeddings only leads to a larger increase to 0.933.</a:t>
            </a:r>
          </a:p>
          <a:p>
            <a:pPr marL="307473" indent="-307473">
              <a:buSzPct val="100000"/>
              <a:buAutoNum type="arabicPeriod" startAt="1"/>
            </a:pPr>
            <a:r>
              <a:t>Combining both embeddings — which is the full DRAGON model — achieves the best performance at 0.945.</a:t>
            </a:r>
          </a:p>
          <a:p>
            <a:pPr marL="307473" indent="-307473">
              <a:buSzPct val="100000"/>
              <a:buAutoNum type="arabicPeriod" startAt="1"/>
            </a:pPr>
            <a:r>
              <a:t>This result shows that protein sequence contributes more than drug structure. And, protein sequence and drug structure together give the best result.</a:t>
            </a:r>
          </a:p>
          <a:p>
            <a:pPr marL="307473" indent="-307473">
              <a:buSzPct val="100000"/>
              <a:buAutoNum type="arabicPeriod" startAt="1"/>
            </a:pPr>
            <a:r>
              <a:t>This study showed  that the Biologically meaningful node features can significantly improve drug–disease prediction performance.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3" name="Shape 4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This model, called DT-DHG, used a dynamic heterogeneous graph for drug-target interaction prediction.</a:t>
            </a:r>
          </a:p>
          <a:p>
            <a:pPr marL="307473" indent="-307473">
              <a:buSzPct val="100000"/>
              <a:buAutoNum type="arabicPeriod" startAt="1"/>
            </a:pPr>
            <a:r>
              <a:t>(predicting which drugs bind to which protein targets)</a:t>
            </a:r>
          </a:p>
          <a:p>
            <a:pPr marL="307473" indent="-307473">
              <a:buSzPct val="100000"/>
              <a:buAutoNum type="arabicPeriod" startAt="1"/>
            </a:pPr>
            <a:r>
              <a:t>To evaluate the graphs, they used four backbone GNN models — GCN, GraphSAGE, GAT, and GATv2. </a:t>
            </a:r>
          </a:p>
          <a:p>
            <a:pPr marL="307473" indent="-307473">
              <a:buSzPct val="100000"/>
              <a:buAutoNum type="arabicPeriod" startAt="1"/>
            </a:pPr>
            <a:r>
              <a:t>And the graph has three edge types:</a:t>
            </a:r>
          </a:p>
          <a:p>
            <a:pPr marL="307473" indent="-307473">
              <a:buSzPct val="100000"/>
              <a:buAutoNum type="arabicPeriod" startAt="1"/>
            </a:pPr>
            <a:r>
              <a:t>Drug-protein edges come from known interactions already in databases.</a:t>
            </a:r>
          </a:p>
          <a:p>
            <a:pPr marL="307473" indent="-307473">
              <a:buSzPct val="100000"/>
              <a:buAutoNum type="arabicPeriod" startAt="1"/>
            </a:pPr>
            <a:r>
              <a:t>Drug-drug edges are based on chemical structure similarity between drug pairs.</a:t>
            </a:r>
          </a:p>
          <a:p>
            <a:pPr marL="307473" indent="-307473">
              <a:buSzPct val="100000"/>
              <a:buAutoNum type="arabicPeriod" startAt="1"/>
            </a:pPr>
            <a:r>
              <a:t>Protein-protein edges are based on sequence similarity between protein pairs.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4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90" name="Shape 4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The first innovation is probabilistic sampling.</a:t>
            </a:r>
          </a:p>
          <a:p>
            <a:pPr marL="307473" indent="-307473">
              <a:buSzPct val="100000"/>
              <a:buAutoNum type="arabicPeriod" startAt="1"/>
            </a:pPr>
            <a:r>
              <a:t>For the drug-drug and protein-protein edges, most previous methods use a fixed threshold when building the graph. </a:t>
            </a:r>
          </a:p>
          <a:p>
            <a:pPr marL="307473" indent="-307473">
              <a:buSzPct val="100000"/>
              <a:buAutoNum type="arabicPeriod" startAt="1"/>
            </a:pPr>
            <a:r>
              <a:t>If the similarity score between two nodes exceeds the threshold, an edge is added permanently. Then the graph is fixed and used throughout training. </a:t>
            </a:r>
          </a:p>
          <a:p>
            <a:pPr marL="307473" indent="-307473">
              <a:buSzPct val="100000"/>
              <a:buAutoNum type="arabicPeriod" startAt="1"/>
            </a:pPr>
            <a:r>
              <a:t>DT-DHG replaces this with probabilities. The similarity score becomes the probability of including that edge in any given epoch. </a:t>
            </a:r>
          </a:p>
          <a:p>
            <a:pPr marL="307473" indent="-307473">
              <a:buSzPct val="100000"/>
              <a:buAutoNum type="arabicPeriod" startAt="1"/>
            </a:pPr>
            <a:r>
              <a:t>For example, if two drugs have a similarity score of 0.9, that becomes a 90% chance of including that edge each epoch. So the graph changes every iteration.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Shape 5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6" name="Shape 5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The second innovation is progressive learning. The idea is that early layers only use high-confidence edges, and deeper layers gradually include lower-similarity connections.</a:t>
            </a:r>
          </a:p>
          <a:p>
            <a:pPr marL="307473" indent="-307473">
              <a:buSzPct val="100000"/>
              <a:buAutoNum type="arabicPeriod" startAt="1"/>
            </a:pPr>
            <a:r>
              <a:t>The paper compares three graph-building modes.</a:t>
            </a:r>
          </a:p>
          <a:p>
            <a:pPr marL="307473" indent="-307473">
              <a:buSzPct val="100000"/>
              <a:buAutoNum type="arabicPeriod" startAt="1"/>
            </a:pPr>
            <a:r>
              <a:t>Mode-O is the threshold approach —fixed graph. </a:t>
            </a:r>
          </a:p>
          <a:p>
            <a:pPr marL="307473" indent="-307473">
              <a:buSzPct val="100000"/>
              <a:buAutoNum type="arabicPeriod" startAt="1"/>
            </a:pPr>
            <a:r>
              <a:t>Mode-F adds Innovation 1 — edges are sampled each epoch</a:t>
            </a:r>
          </a:p>
          <a:p>
            <a:pPr marL="307473" indent="-307473">
              <a:buSzPct val="100000"/>
              <a:buAutoNum type="arabicPeriod" startAt="1"/>
            </a:pPr>
            <a:r>
              <a:t>Mode-P adds Innovation 2 on top. It still uses dynamic sampling, but instead of giving every GNN layer the same graph, it introduces edges gradually across layers.</a:t>
            </a:r>
          </a:p>
          <a:p>
            <a:pPr marL="307473" indent="-307473">
              <a:buSzPct val="100000"/>
              <a:buAutoNum type="arabicPeriod" startAt="1"/>
            </a:pPr>
            <a:r>
              <a:t>Both Mode-F and Mode-P improved all four models over Mode-O. </a:t>
            </a:r>
          </a:p>
          <a:p>
            <a:pPr marL="307473" indent="-307473">
              <a:buSzPct val="100000"/>
              <a:buAutoNum type="arabicPeriod" startAt="1"/>
            </a:pPr>
            <a:r>
              <a:t>The biggest improvement came from Mode-P with GATv2. Its prediction performance was more than twice as high as Mode-O.</a:t>
            </a:r>
          </a:p>
          <a:p>
            <a:pPr marL="307473" indent="-307473">
              <a:buSzPct val="100000"/>
              <a:buAutoNum type="arabicPeriod" startAt="1"/>
            </a:pPr>
          </a:p>
          <a:p>
            <a:pPr/>
            <a:r>
              <a:t>(Hits@10 measures how often the correct answer appears in the model’s top 10 ranked predictions.)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5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73" name="Shape 5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This paper looks at a different question: instead of using the whole graph, can we focus on the most relevant local subgraph?</a:t>
            </a:r>
          </a:p>
          <a:p>
            <a:pPr marL="307473" indent="-307473">
              <a:buSzPct val="100000"/>
              <a:buAutoNum type="arabicPeriod" startAt="1"/>
            </a:pPr>
            <a:r>
              <a:t>The model is called HSELDA, and its key idea is subgraph extraction.</a:t>
            </a:r>
          </a:p>
          <a:p>
            <a:pPr marL="307473" indent="-307473">
              <a:buSzPct val="100000"/>
              <a:buAutoNum type="arabicPeriod" startAt="1"/>
            </a:pPr>
            <a:r>
              <a:t>Their task is lncRNA-disease association prediction — predicting which long non-coding RNAs are linked to which diseases.</a:t>
            </a:r>
          </a:p>
          <a:p>
            <a:pPr marL="307473" indent="-307473">
              <a:buSzPct val="100000"/>
              <a:buAutoNum type="arabicPeriod" startAt="1"/>
            </a:pPr>
            <a:r>
              <a:t>The graph has three node types — lncRNA, miRNA, and disease. </a:t>
            </a:r>
          </a:p>
          <a:p>
            <a:pPr marL="307473" indent="-307473">
              <a:buSzPct val="100000"/>
              <a:buAutoNum type="arabicPeriod" startAt="1"/>
            </a:pPr>
            <a:r>
              <a:t>For each lncRNA-disease pair they want to predict, they extracted a small local subgraph — including just the two target nodes and their immediate neighbors. </a:t>
            </a:r>
          </a:p>
          <a:p>
            <a:pPr marL="307473" indent="-307473">
              <a:buSzPct val="100000"/>
              <a:buAutoNum type="arabicPeriod" startAt="1"/>
            </a:pPr>
            <a:r>
              <a:t>The right side is the simple version of the subgraph.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6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4" name="Shape 6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R-GCN was applied on each extracted subgraph.</a:t>
            </a:r>
          </a:p>
          <a:p>
            <a:pPr marL="307473" indent="-307473">
              <a:buSzPct val="100000"/>
              <a:buAutoNum type="arabicPeriod" startAt="1"/>
            </a:pPr>
            <a:r>
              <a:t>They compared against five baselines:  LDAP, MFLDA, Ping's method, SIMCLDA, and GCNLDA. </a:t>
            </a:r>
          </a:p>
          <a:p>
            <a:pPr marL="307473" indent="-307473">
              <a:buSzPct val="100000"/>
              <a:buAutoNum type="arabicPeriod" startAt="1"/>
            </a:pPr>
            <a:r>
              <a:t>HSELDA achieved the best performance across the baselines, with an AUROC of 0.967 and an AUPRC of 0.965.</a:t>
            </a:r>
          </a:p>
          <a:p>
            <a:pPr marL="307473" indent="-307473">
              <a:buSzPct val="100000"/>
              <a:buAutoNum type="arabicPeriod" startAt="1"/>
            </a:pPr>
            <a:r>
              <a:t>Because R-GCN is applied only to a small extracted subgraph, the model can reduce computation while still focusing on the most relevant local neighborhood.</a:t>
            </a:r>
          </a:p>
          <a:p>
            <a:pPr marL="307473" indent="-307473">
              <a:buSzPct val="100000"/>
              <a:buAutoNum type="arabicPeriod" startAt="1"/>
            </a:pPr>
          </a:p>
          <a:p>
            <a:pPr/>
            <a:r>
              <a:t>(Only GCNLDA is GCN-based — the others are older network-based or similarity-based methods.)</a:t>
            </a:r>
          </a:p>
          <a:p>
            <a:pPr/>
            <a:r>
              <a:t>( AUPRC is important here because lncRNA-disease positive pairs are rare — it measures how well the model finds true associations without too many false predictions.)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9" name="Shape 6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So far, most examples focused on drug, protein, gene, and disease relationships. This paper expands the graph to a different biomedical area: environmental toxins.</a:t>
            </a:r>
          </a:p>
          <a:p>
            <a:pPr marL="307473" indent="-307473">
              <a:buSzPct val="100000"/>
              <a:buAutoNum type="arabicPeriod" startAt="1"/>
            </a:pPr>
            <a:r>
              <a:t>They used a heterogeneous knowledge graph, called T3DB — the Toxin and Toxin Target Database.</a:t>
            </a:r>
          </a:p>
          <a:p>
            <a:pPr marL="307473" indent="-307473">
              <a:buSzPct val="100000"/>
              <a:buAutoNum type="arabicPeriod" startAt="1"/>
            </a:pPr>
            <a:r>
              <a:t>Unlike many biomedical graphs, this one includes environmental exposure context, such as toxins, exposure routes, and environmental factors.</a:t>
            </a:r>
          </a:p>
          <a:p>
            <a:pPr marL="307473" indent="-307473">
              <a:buSzPct val="100000"/>
              <a:buAutoNum type="arabicPeriod" startAt="1"/>
            </a:pPr>
            <a:r>
              <a:t>This is a two-step task:</a:t>
            </a:r>
          </a:p>
          <a:p>
            <a:pPr marL="307473" indent="-307473">
              <a:buSzPct val="100000"/>
              <a:buAutoNum type="arabicPeriod" startAt="1"/>
            </a:pPr>
            <a:r>
              <a:t>First, they use a node-level prediction step to improve the toxin embeddings. </a:t>
            </a:r>
          </a:p>
          <a:p>
            <a:pPr marL="307473" indent="-307473">
              <a:buSzPct val="100000"/>
              <a:buAutoNum type="arabicPeriod" startAt="1"/>
            </a:pPr>
            <a:r>
              <a:t>In simple terms, this helps the model learn better numerical representations for each toxin.</a:t>
            </a:r>
          </a:p>
          <a:p>
            <a:pPr marL="307473" indent="-307473">
              <a:buSzPct val="100000"/>
              <a:buAutoNum type="arabicPeriod" startAt="1"/>
            </a:pPr>
            <a:r>
              <a:t>Step two is link prediction to find toxin-disease associations.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Shape 6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2" name="Shape 6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They compared three models: GAT, R-GCN, and Enhanced GCN.</a:t>
            </a:r>
          </a:p>
          <a:p>
            <a:pPr marL="307473" indent="-307473">
              <a:buSzPct val="100000"/>
              <a:buAutoNum type="arabicPeriod" startAt="1"/>
            </a:pPr>
            <a:r>
              <a:t>GAT performed the best overall, reaching an F1 score of 0.975, and the result was consistent across different runs.</a:t>
            </a:r>
          </a:p>
          <a:p>
            <a:pPr marL="307473" indent="-307473">
              <a:buSzPct val="100000"/>
              <a:buAutoNum type="arabicPeriod" startAt="1"/>
            </a:pPr>
            <a:r>
              <a:t>GAT worked better here because its attention mechanism can give more weight to useful connections and less weight to noisy or irrelevant ones.</a:t>
            </a:r>
          </a:p>
          <a:p>
            <a:pPr marL="307473" indent="-307473">
              <a:buSzPct val="100000"/>
              <a:buAutoNum type="arabicPeriod" startAt="1"/>
            </a:pPr>
            <a:r>
              <a:t>R-GCN showed a different pattern. It overfitted quickly, which the paper connects to the difficulty of balancing model complexity in multi-relational biomedical graphs.</a:t>
            </a:r>
          </a:p>
          <a:p>
            <a:pPr marL="307473" indent="-307473">
              <a:buSzPct val="100000"/>
              <a:buAutoNum type="arabicPeriod" startAt="1"/>
            </a:pPr>
            <a:r>
              <a:t>So the decision to include environmental exposure context is what makes this graph unique and opens up new prediction tasks.</a:t>
            </a:r>
          </a:p>
          <a:p>
            <a:pPr marL="307473" indent="-307473">
              <a:buSzPct val="100000"/>
              <a:buAutoNum type="arabicPeriod" startAt="1"/>
            </a:pPr>
            <a:r>
              <a:t>The main takeaway is that graph design is a research problem itself. What we include in the graph can shape what the model learns. </a:t>
            </a:r>
          </a:p>
          <a:p>
            <a:pPr marL="307473" indent="-307473">
              <a:buSzPct val="100000"/>
              <a:buAutoNum type="arabicPeriod" startAt="1"/>
            </a:pPr>
            <a:r>
              <a:t>Richer graphs can be more informative, but they can also introduce more noise and increase the risk of overfitting.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Shape 7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3" name="Shape 7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This slide shows how graph-based biomedical AI is being used in the real world.</a:t>
            </a:r>
          </a:p>
          <a:p>
            <a:pPr marL="307473" indent="-307473">
              <a:buSzPct val="100000"/>
              <a:buAutoNum type="arabicPeriod" startAt="1"/>
            </a:pPr>
            <a:r>
              <a:t>One example is AstraZeneca, a large pharmaceutical company. It uses knowledge graphs and AI to support drug discovery and target prediction.</a:t>
            </a:r>
          </a:p>
          <a:p>
            <a:pPr marL="307473" indent="-307473">
              <a:buSzPct val="100000"/>
              <a:buAutoNum type="arabicPeriod" startAt="1"/>
            </a:pPr>
            <a:r>
              <a:t>They use biomedical knowledge graphs to connect different kinds of information. </a:t>
            </a:r>
          </a:p>
          <a:p>
            <a:pPr marL="307473" indent="-307473">
              <a:buSzPct val="100000"/>
              <a:buAutoNum type="arabicPeriod" startAt="1"/>
            </a:pPr>
            <a:r>
              <a:t>They also describe graph neural networks as one method that can help mine these graphs and support target prediction.</a:t>
            </a:r>
          </a:p>
          <a:p>
            <a:pPr marL="307473" indent="-307473">
              <a:buSzPct val="100000"/>
              <a:buAutoNum type="arabicPeriod" startAt="1"/>
            </a:pPr>
            <a:r>
              <a:t>Another example is Standigm. Standigm is an AI drug discovery company. Its platform, Standigm ASK, combines a biomedical knowledge graph with a neural network for target discovery.</a:t>
            </a:r>
          </a:p>
          <a:p>
            <a:pPr marL="307473" indent="-307473">
              <a:buSzPct val="100000"/>
              <a:buAutoNum type="arabicPeriod" startAt="1"/>
            </a:pPr>
            <a:r>
              <a:t>I am citing a 2024 paper by Han and colleagues here because in that study, Standigm ASK was applied to IPF — a serious lung disease, and identified three candidate genes: AMFR, MDFIC, and NR5A2. (idiopathic pulmonary fibrosis)</a:t>
            </a:r>
          </a:p>
          <a:p>
            <a:pPr marL="307473" indent="-307473">
              <a:buSzPct val="100000"/>
              <a:buAutoNum type="arabicPeriod" startAt="1"/>
            </a:pPr>
            <a:r>
              <a:t>But these systems are not making direct clinical decisions. They help researchers find promising relationships and choose which targets should be tested next.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Shape 7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25" name="Shape 7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07473" indent="-307473">
              <a:buSzPct val="100000"/>
              <a:buAutoNum type="arabicPeriod" startAt="1"/>
            </a:pPr>
            <a:r>
              <a:t>For future directions:</a:t>
            </a:r>
          </a:p>
          <a:p>
            <a:pPr marL="307473" indent="-307473">
              <a:buSzPct val="100000"/>
              <a:buAutoNum type="arabicPeriod" startAt="1"/>
            </a:pPr>
            <a:r>
              <a:t>First, future work can expand prediction domains. Instead of only focusing on traditional relationships like drug-disease, richer knowledge graphs can help study new types of biomedical relationships.</a:t>
            </a:r>
          </a:p>
          <a:p>
            <a:pPr marL="307473" indent="-307473">
              <a:buSzPct val="100000"/>
              <a:buAutoNum type="arabicPeriod" startAt="1"/>
            </a:pPr>
            <a:r>
              <a:t>Second, GNN predictions can become part of AI-assisted discovery pipelines. The system can help sort through many predicted relationships and highlight the candidates that should be tested first.</a:t>
            </a:r>
          </a:p>
          <a:p>
            <a:pPr marL="307473" indent="-307473">
              <a:buSzPct val="100000"/>
              <a:buAutoNum type="arabicPeriod" startAt="1"/>
            </a:pPr>
            <a:r>
              <a:t>Third, future work may move to patient-specific treatment decisions. This means using patient information to help choose better drug candidates, doses, and treatment strategies.</a:t>
            </a:r>
          </a:p>
          <a:p>
            <a:pPr marL="307473" indent="-307473">
              <a:buSzPct val="100000"/>
              <a:buAutoNum type="arabicPeriod" startAt="1"/>
            </a:pPr>
            <a:r>
              <a:t>So overall, the future direction is broader relationships, better discovery pipelines, and more patient-specific decisions.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Shape 7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7" name="Shape 7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ethical considerations, I want to focus on three issues.</a:t>
            </a:r>
          </a:p>
          <a:p>
            <a:pPr/>
            <a:r>
              <a:t>First is privacy and consent. Biomedical models may use sensitive data, such as clinical records, genomic data, or patient information. So this data needs strong privacy protection.</a:t>
            </a:r>
          </a:p>
          <a:p>
            <a:pPr/>
            <a:r>
              <a:t>Second is bias and fairness. If the training data mostly comes from well-studied diseases or certain patient groups, the model may not learn enough about rare diseases or groups that are less represented in the data.</a:t>
            </a:r>
          </a:p>
          <a:p>
            <a:pPr/>
            <a:r>
              <a:t>Third is transparency and human oversight. Researchers and clinicians need to understand why a relationship is predicted before using it to guide decisions.</a:t>
            </a:r>
          </a:p>
          <a:p>
            <a:pPr/>
            <a:r>
              <a:t>So overall, ethical use means protecting data, checking for bias, and keeping experts involved.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502919" y="1005839"/>
            <a:ext cx="10881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9A9080"/>
                </a:solidFill>
              </a:defRPr>
            </a:lvl1pPr>
          </a:lstStyle>
          <a:p>
            <a:pPr/>
            <a:r>
              <a:t>LITERATURE REVIEW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502919" y="1463039"/>
            <a:ext cx="9966961" cy="2025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400">
                <a:solidFill>
                  <a:srgbClr val="F0EBE0"/>
                </a:solidFill>
              </a:defRPr>
            </a:pPr>
            <a:r>
              <a:t>Graph Neural Networks</a:t>
            </a:r>
          </a:p>
          <a:p>
            <a:pPr>
              <a:defRPr b="1" sz="4400">
                <a:solidFill>
                  <a:srgbClr val="F0EBE0"/>
                </a:solidFill>
              </a:defRPr>
            </a:pPr>
            <a:r>
              <a:t>for Biomedical</a:t>
            </a:r>
          </a:p>
          <a:p>
            <a:pPr>
              <a:defRPr b="1" sz="4400">
                <a:solidFill>
                  <a:srgbClr val="F0EBE0"/>
                </a:solidFill>
              </a:defRPr>
            </a:pPr>
            <a:r>
              <a:t>Relationship Prediction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502919" y="4572000"/>
            <a:ext cx="53949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600">
                <a:solidFill>
                  <a:srgbClr val="E8845A"/>
                </a:solidFill>
              </a:defRPr>
            </a:lvl1pPr>
          </a:lstStyle>
          <a:p>
            <a:pPr/>
            <a:r>
              <a:t>Ying Cui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05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Motivation</a:t>
            </a:r>
          </a:p>
        </p:txBody>
      </p:sp>
      <p:sp>
        <p:nvSpPr>
          <p:cNvPr id="106" name="Rectangle 5"/>
          <p:cNvSpPr/>
          <p:nvPr/>
        </p:nvSpPr>
        <p:spPr>
          <a:xfrm>
            <a:off x="8604504" y="425195"/>
            <a:ext cx="3310128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6"/>
          <p:cNvSpPr txBox="1"/>
          <p:nvPr/>
        </p:nvSpPr>
        <p:spPr>
          <a:xfrm>
            <a:off x="9399360" y="502964"/>
            <a:ext cx="172041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J et al., 2022 · Joshi et al., 2025</a:t>
            </a:r>
          </a:p>
        </p:txBody>
      </p:sp>
      <p:sp>
        <p:nvSpPr>
          <p:cNvPr id="108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TextBox 8"/>
          <p:cNvSpPr txBox="1"/>
          <p:nvPr/>
        </p:nvSpPr>
        <p:spPr>
          <a:xfrm>
            <a:off x="411479" y="1435608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Biomedical data — genomic sequences, clinical records, chemical structures, protein interactions</a:t>
            </a:r>
          </a:p>
        </p:txBody>
      </p:sp>
      <p:sp>
        <p:nvSpPr>
          <p:cNvPr id="110" name="Rectangle 9"/>
          <p:cNvSpPr/>
          <p:nvPr/>
        </p:nvSpPr>
        <p:spPr>
          <a:xfrm>
            <a:off x="365759" y="1947672"/>
            <a:ext cx="73153" cy="475488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Rectangle 10"/>
          <p:cNvSpPr/>
          <p:nvPr/>
        </p:nvSpPr>
        <p:spPr>
          <a:xfrm>
            <a:off x="438912" y="1947672"/>
            <a:ext cx="11356848" cy="475488"/>
          </a:xfrm>
          <a:prstGeom prst="rect">
            <a:avLst/>
          </a:prstGeom>
          <a:solidFill>
            <a:srgbClr val="3822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11"/>
          <p:cNvSpPr txBox="1"/>
          <p:nvPr/>
        </p:nvSpPr>
        <p:spPr>
          <a:xfrm>
            <a:off x="576071" y="2046417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Central question: How do these biological entities relate to each other?</a:t>
            </a:r>
          </a:p>
        </p:txBody>
      </p:sp>
      <p:sp>
        <p:nvSpPr>
          <p:cNvPr id="113" name="TextBox 12"/>
          <p:cNvSpPr txBox="1"/>
          <p:nvPr/>
        </p:nvSpPr>
        <p:spPr>
          <a:xfrm>
            <a:off x="411479" y="2633472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EXAMPLES</a:t>
            </a:r>
          </a:p>
        </p:txBody>
      </p:sp>
      <p:sp>
        <p:nvSpPr>
          <p:cNvPr id="114" name="TextBox 13"/>
          <p:cNvSpPr txBox="1"/>
          <p:nvPr/>
        </p:nvSpPr>
        <p:spPr>
          <a:xfrm>
            <a:off x="411479" y="2944367"/>
            <a:ext cx="1133856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→  Could an existing drug be a cure for Alzheimer's?</a:t>
            </a:r>
          </a:p>
        </p:txBody>
      </p:sp>
      <p:sp>
        <p:nvSpPr>
          <p:cNvPr id="115" name="TextBox 14"/>
          <p:cNvSpPr txBox="1"/>
          <p:nvPr/>
        </p:nvSpPr>
        <p:spPr>
          <a:xfrm>
            <a:off x="411479" y="3456432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→  Is a known toxin linked to cancer?</a:t>
            </a:r>
          </a:p>
        </p:txBody>
      </p:sp>
      <p:sp>
        <p:nvSpPr>
          <p:cNvPr id="116" name="TextBox 15"/>
          <p:cNvSpPr txBox="1"/>
          <p:nvPr/>
        </p:nvSpPr>
        <p:spPr>
          <a:xfrm>
            <a:off x="411479" y="4123944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WHY IT MATTERS</a:t>
            </a:r>
          </a:p>
        </p:txBody>
      </p:sp>
      <p:sp>
        <p:nvSpPr>
          <p:cNvPr id="117" name="Rectangle 16"/>
          <p:cNvSpPr/>
          <p:nvPr/>
        </p:nvSpPr>
        <p:spPr>
          <a:xfrm>
            <a:off x="365759" y="4434840"/>
            <a:ext cx="73153" cy="475488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Rectangle 17"/>
          <p:cNvSpPr/>
          <p:nvPr/>
        </p:nvSpPr>
        <p:spPr>
          <a:xfrm>
            <a:off x="438912" y="4434840"/>
            <a:ext cx="11356848" cy="475488"/>
          </a:xfrm>
          <a:prstGeom prst="rect">
            <a:avLst/>
          </a:prstGeom>
          <a:solidFill>
            <a:srgbClr val="1628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18"/>
          <p:cNvSpPr txBox="1"/>
          <p:nvPr/>
        </p:nvSpPr>
        <p:spPr>
          <a:xfrm>
            <a:off x="576071" y="4533585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These are relationship prediction problems — solving them computationally means discovering treatments faster and at lower cost</a:t>
            </a:r>
          </a:p>
        </p:txBody>
      </p:sp>
      <p:sp>
        <p:nvSpPr>
          <p:cNvPr id="120" name="Rectangle 19"/>
          <p:cNvSpPr/>
          <p:nvPr/>
        </p:nvSpPr>
        <p:spPr>
          <a:xfrm>
            <a:off x="365759" y="5120640"/>
            <a:ext cx="73153" cy="475488"/>
          </a:xfrm>
          <a:prstGeom prst="rect">
            <a:avLst/>
          </a:prstGeom>
          <a:solidFill>
            <a:srgbClr val="5AB8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Rectangle 20"/>
          <p:cNvSpPr/>
          <p:nvPr/>
        </p:nvSpPr>
        <p:spPr>
          <a:xfrm>
            <a:off x="438912" y="5120640"/>
            <a:ext cx="11356848" cy="475488"/>
          </a:xfrm>
          <a:prstGeom prst="rect">
            <a:avLst/>
          </a:prstGeom>
          <a:solidFill>
            <a:srgbClr val="1630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TextBox 21"/>
          <p:cNvSpPr txBox="1"/>
          <p:nvPr/>
        </p:nvSpPr>
        <p:spPr>
          <a:xfrm>
            <a:off x="576071" y="5219385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This talk: how Graph Neural Networks can predict these relationships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29" name="TextBox 4"/>
          <p:cNvSpPr txBox="1"/>
          <p:nvPr/>
        </p:nvSpPr>
        <p:spPr>
          <a:xfrm>
            <a:off x="1097280" y="365759"/>
            <a:ext cx="11338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GNNs: Basic Idea for Biomedical Data</a:t>
            </a:r>
          </a:p>
        </p:txBody>
      </p:sp>
      <p:sp>
        <p:nvSpPr>
          <p:cNvPr id="130" name="Rectangle 5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6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THE GRAPH</a:t>
            </a:r>
          </a:p>
        </p:txBody>
      </p:sp>
      <p:sp>
        <p:nvSpPr>
          <p:cNvPr id="132" name="TextBox 7"/>
          <p:cNvSpPr txBox="1"/>
          <p:nvPr/>
        </p:nvSpPr>
        <p:spPr>
          <a:xfrm>
            <a:off x="411479" y="1746504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Biomedical data can be modeled as a graph — some naturally</a:t>
            </a:r>
          </a:p>
        </p:txBody>
      </p:sp>
      <p:sp>
        <p:nvSpPr>
          <p:cNvPr id="133" name="TextBox 8"/>
          <p:cNvSpPr txBox="1"/>
          <p:nvPr/>
        </p:nvSpPr>
        <p:spPr>
          <a:xfrm>
            <a:off x="411479" y="2414016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WHY GNNS</a:t>
            </a:r>
          </a:p>
        </p:txBody>
      </p:sp>
      <p:sp>
        <p:nvSpPr>
          <p:cNvPr id="134" name="Rectangle 9"/>
          <p:cNvSpPr/>
          <p:nvPr/>
        </p:nvSpPr>
        <p:spPr>
          <a:xfrm>
            <a:off x="365759" y="2724911"/>
            <a:ext cx="73153" cy="640081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Rectangle 10"/>
          <p:cNvSpPr/>
          <p:nvPr/>
        </p:nvSpPr>
        <p:spPr>
          <a:xfrm>
            <a:off x="438911" y="2724911"/>
            <a:ext cx="5321810" cy="640081"/>
          </a:xfrm>
          <a:prstGeom prst="rect">
            <a:avLst/>
          </a:prstGeom>
          <a:solidFill>
            <a:srgbClr val="3822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11"/>
          <p:cNvSpPr txBox="1"/>
          <p:nvPr/>
        </p:nvSpPr>
        <p:spPr>
          <a:xfrm>
            <a:off x="576071" y="2791653"/>
            <a:ext cx="502920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Graphs are irregular — GNNs handle this irregularity by passing messages between connected nodes</a:t>
            </a:r>
          </a:p>
        </p:txBody>
      </p:sp>
      <p:sp>
        <p:nvSpPr>
          <p:cNvPr id="137" name="TextBox 12"/>
          <p:cNvSpPr txBox="1"/>
          <p:nvPr/>
        </p:nvSpPr>
        <p:spPr>
          <a:xfrm>
            <a:off x="411479" y="3511296"/>
            <a:ext cx="530352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Repeats across layers → gathers info from neighbors of neighbors too</a:t>
            </a:r>
          </a:p>
        </p:txBody>
      </p:sp>
      <p:sp>
        <p:nvSpPr>
          <p:cNvPr id="138" name="TextBox 13"/>
          <p:cNvSpPr txBox="1"/>
          <p:nvPr/>
        </p:nvSpPr>
        <p:spPr>
          <a:xfrm>
            <a:off x="411479" y="4270247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WHY THIS MATTERS</a:t>
            </a:r>
          </a:p>
        </p:txBody>
      </p:sp>
      <p:sp>
        <p:nvSpPr>
          <p:cNvPr id="139" name="Rectangle 14"/>
          <p:cNvSpPr/>
          <p:nvPr/>
        </p:nvSpPr>
        <p:spPr>
          <a:xfrm>
            <a:off x="365759" y="4581144"/>
            <a:ext cx="73153" cy="475488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Rectangle 15"/>
          <p:cNvSpPr/>
          <p:nvPr/>
        </p:nvSpPr>
        <p:spPr>
          <a:xfrm>
            <a:off x="438911" y="4581144"/>
            <a:ext cx="5321810" cy="475488"/>
          </a:xfrm>
          <a:prstGeom prst="rect">
            <a:avLst/>
          </a:prstGeom>
          <a:solidFill>
            <a:srgbClr val="1628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16"/>
          <p:cNvSpPr txBox="1"/>
          <p:nvPr/>
        </p:nvSpPr>
        <p:spPr>
          <a:xfrm>
            <a:off x="576071" y="4679889"/>
            <a:ext cx="50292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Biomedical graphs are highly irregular</a:t>
            </a:r>
          </a:p>
        </p:txBody>
      </p:sp>
      <p:sp>
        <p:nvSpPr>
          <p:cNvPr id="142" name="Rectangle 17"/>
          <p:cNvSpPr/>
          <p:nvPr/>
        </p:nvSpPr>
        <p:spPr>
          <a:xfrm>
            <a:off x="365759" y="5202935"/>
            <a:ext cx="73153" cy="475488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Rectangle 18"/>
          <p:cNvSpPr/>
          <p:nvPr/>
        </p:nvSpPr>
        <p:spPr>
          <a:xfrm>
            <a:off x="438911" y="5202935"/>
            <a:ext cx="5321810" cy="475488"/>
          </a:xfrm>
          <a:prstGeom prst="rect">
            <a:avLst/>
          </a:prstGeom>
          <a:solidFill>
            <a:srgbClr val="3822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19"/>
          <p:cNvSpPr txBox="1"/>
          <p:nvPr/>
        </p:nvSpPr>
        <p:spPr>
          <a:xfrm>
            <a:off x="576071" y="5301681"/>
            <a:ext cx="50292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Many connections are indirect</a:t>
            </a:r>
          </a:p>
        </p:txBody>
      </p:sp>
      <p:sp>
        <p:nvSpPr>
          <p:cNvPr id="145" name="Rectangle 20"/>
          <p:cNvSpPr/>
          <p:nvPr/>
        </p:nvSpPr>
        <p:spPr>
          <a:xfrm rot="2519233">
            <a:off x="7078350" y="2702050"/>
            <a:ext cx="1845300" cy="36577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21"/>
          <p:cNvSpPr txBox="1"/>
          <p:nvPr/>
        </p:nvSpPr>
        <p:spPr>
          <a:xfrm>
            <a:off x="7765497" y="2564890"/>
            <a:ext cx="47100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000">
                <a:solidFill>
                  <a:srgbClr val="9A9080"/>
                </a:solidFill>
              </a:defRPr>
            </a:lvl1pPr>
          </a:lstStyle>
          <a:p>
            <a:pPr/>
            <a:r>
              <a:t>targets</a:t>
            </a:r>
          </a:p>
        </p:txBody>
      </p:sp>
      <p:sp>
        <p:nvSpPr>
          <p:cNvPr id="147" name="Rectangle 22"/>
          <p:cNvSpPr/>
          <p:nvPr/>
        </p:nvSpPr>
        <p:spPr>
          <a:xfrm rot="8280767">
            <a:off x="8449950" y="2702050"/>
            <a:ext cx="1845300" cy="36577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23"/>
          <p:cNvSpPr txBox="1"/>
          <p:nvPr/>
        </p:nvSpPr>
        <p:spPr>
          <a:xfrm>
            <a:off x="9137099" y="2564890"/>
            <a:ext cx="4710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000">
                <a:solidFill>
                  <a:srgbClr val="9A9080"/>
                </a:solidFill>
              </a:defRPr>
            </a:lvl1pPr>
          </a:lstStyle>
          <a:p>
            <a:pPr/>
            <a:r>
              <a:t>targets</a:t>
            </a:r>
          </a:p>
        </p:txBody>
      </p:sp>
      <p:sp>
        <p:nvSpPr>
          <p:cNvPr id="149" name="Rectangle 24"/>
          <p:cNvSpPr/>
          <p:nvPr/>
        </p:nvSpPr>
        <p:spPr>
          <a:xfrm rot="5400000">
            <a:off x="8001000" y="4005071"/>
            <a:ext cx="1371600" cy="36577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25"/>
          <p:cNvSpPr txBox="1"/>
          <p:nvPr/>
        </p:nvSpPr>
        <p:spPr>
          <a:xfrm>
            <a:off x="8483202" y="3867911"/>
            <a:ext cx="40719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000">
                <a:solidFill>
                  <a:srgbClr val="9A9080"/>
                </a:solidFill>
              </a:defRPr>
            </a:lvl1pPr>
          </a:lstStyle>
          <a:p>
            <a:pPr/>
            <a:r>
              <a:t>linked</a:t>
            </a:r>
          </a:p>
        </p:txBody>
      </p:sp>
      <p:sp>
        <p:nvSpPr>
          <p:cNvPr id="151" name="Rectangle 26"/>
          <p:cNvSpPr/>
          <p:nvPr/>
        </p:nvSpPr>
        <p:spPr>
          <a:xfrm rot="6624593">
            <a:off x="5900616" y="3067811"/>
            <a:ext cx="2097647" cy="36577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27"/>
          <p:cNvSpPr txBox="1"/>
          <p:nvPr/>
        </p:nvSpPr>
        <p:spPr>
          <a:xfrm>
            <a:off x="6760137" y="2930651"/>
            <a:ext cx="37860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000">
                <a:solidFill>
                  <a:srgbClr val="9A9080"/>
                </a:solidFill>
              </a:defRPr>
            </a:lvl1pPr>
          </a:lstStyle>
          <a:p>
            <a:pPr/>
            <a:r>
              <a:t>binds</a:t>
            </a:r>
          </a:p>
        </p:txBody>
      </p:sp>
      <p:sp>
        <p:nvSpPr>
          <p:cNvPr id="153" name="Rectangle 28"/>
          <p:cNvSpPr/>
          <p:nvPr/>
        </p:nvSpPr>
        <p:spPr>
          <a:xfrm rot="1015651">
            <a:off x="6536056" y="4370832"/>
            <a:ext cx="2198367" cy="36577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29"/>
          <p:cNvSpPr txBox="1"/>
          <p:nvPr/>
        </p:nvSpPr>
        <p:spPr>
          <a:xfrm>
            <a:off x="7426062" y="4233671"/>
            <a:ext cx="41835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000">
                <a:solidFill>
                  <a:srgbClr val="9A9080"/>
                </a:solidFill>
              </a:defRPr>
            </a:lvl1pPr>
          </a:lstStyle>
          <a:p>
            <a:pPr/>
            <a:r>
              <a:t>assoc.</a:t>
            </a:r>
          </a:p>
        </p:txBody>
      </p:sp>
      <p:sp>
        <p:nvSpPr>
          <p:cNvPr id="155" name="Oval 30"/>
          <p:cNvSpPr/>
          <p:nvPr/>
        </p:nvSpPr>
        <p:spPr>
          <a:xfrm>
            <a:off x="7022592" y="1810511"/>
            <a:ext cx="585217" cy="585217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31"/>
          <p:cNvSpPr txBox="1"/>
          <p:nvPr/>
        </p:nvSpPr>
        <p:spPr>
          <a:xfrm>
            <a:off x="7105130" y="2432303"/>
            <a:ext cx="4201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900">
                <a:solidFill>
                  <a:srgbClr val="D8D0C0"/>
                </a:solidFill>
              </a:defRPr>
            </a:lvl1pPr>
          </a:lstStyle>
          <a:p>
            <a:pPr/>
            <a:r>
              <a:t>Drug A</a:t>
            </a:r>
          </a:p>
        </p:txBody>
      </p:sp>
      <p:sp>
        <p:nvSpPr>
          <p:cNvPr id="157" name="Oval 32"/>
          <p:cNvSpPr/>
          <p:nvPr/>
        </p:nvSpPr>
        <p:spPr>
          <a:xfrm>
            <a:off x="9765792" y="1810511"/>
            <a:ext cx="585217" cy="585217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33"/>
          <p:cNvSpPr txBox="1"/>
          <p:nvPr/>
        </p:nvSpPr>
        <p:spPr>
          <a:xfrm>
            <a:off x="9850311" y="2432303"/>
            <a:ext cx="416178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900">
                <a:solidFill>
                  <a:srgbClr val="D8D0C0"/>
                </a:solidFill>
              </a:defRPr>
            </a:lvl1pPr>
          </a:lstStyle>
          <a:p>
            <a:pPr/>
            <a:r>
              <a:t>Drug B</a:t>
            </a:r>
          </a:p>
        </p:txBody>
      </p:sp>
      <p:sp>
        <p:nvSpPr>
          <p:cNvPr id="159" name="Oval 34"/>
          <p:cNvSpPr/>
          <p:nvPr/>
        </p:nvSpPr>
        <p:spPr>
          <a:xfrm>
            <a:off x="8394192" y="3044951"/>
            <a:ext cx="585217" cy="58521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35"/>
          <p:cNvSpPr txBox="1"/>
          <p:nvPr/>
        </p:nvSpPr>
        <p:spPr>
          <a:xfrm>
            <a:off x="8511779" y="3666744"/>
            <a:ext cx="3500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900">
                <a:solidFill>
                  <a:srgbClr val="D8D0C0"/>
                </a:solidFill>
              </a:defRPr>
            </a:lvl1pPr>
          </a:lstStyle>
          <a:p>
            <a:pPr/>
            <a:r>
              <a:t>Gene</a:t>
            </a:r>
          </a:p>
        </p:txBody>
      </p:sp>
      <p:sp>
        <p:nvSpPr>
          <p:cNvPr id="161" name="Oval 36"/>
          <p:cNvSpPr/>
          <p:nvPr/>
        </p:nvSpPr>
        <p:spPr>
          <a:xfrm>
            <a:off x="8394192" y="4416552"/>
            <a:ext cx="585217" cy="585217"/>
          </a:xfrm>
          <a:prstGeom prst="ellipse">
            <a:avLst/>
          </a:prstGeom>
          <a:solidFill>
            <a:srgbClr val="163024"/>
          </a:solidFill>
          <a:ln w="2286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37"/>
          <p:cNvSpPr txBox="1"/>
          <p:nvPr/>
        </p:nvSpPr>
        <p:spPr>
          <a:xfrm>
            <a:off x="8457503" y="5038344"/>
            <a:ext cx="45859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900">
                <a:solidFill>
                  <a:srgbClr val="D8D0C0"/>
                </a:solidFill>
              </a:defRPr>
            </a:lvl1pPr>
          </a:lstStyle>
          <a:p>
            <a:pPr/>
            <a:r>
              <a:t>Disease</a:t>
            </a:r>
          </a:p>
        </p:txBody>
      </p:sp>
      <p:sp>
        <p:nvSpPr>
          <p:cNvPr id="163" name="Oval 38"/>
          <p:cNvSpPr/>
          <p:nvPr/>
        </p:nvSpPr>
        <p:spPr>
          <a:xfrm>
            <a:off x="6291071" y="3776471"/>
            <a:ext cx="585217" cy="58521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39"/>
          <p:cNvSpPr txBox="1"/>
          <p:nvPr/>
        </p:nvSpPr>
        <p:spPr>
          <a:xfrm>
            <a:off x="6362839" y="4398264"/>
            <a:ext cx="44168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900">
                <a:solidFill>
                  <a:srgbClr val="D8D0C0"/>
                </a:solidFill>
              </a:defRPr>
            </a:lvl1pPr>
          </a:lstStyle>
          <a:p>
            <a:pPr/>
            <a:r>
              <a:t>Protein</a:t>
            </a:r>
          </a:p>
        </p:txBody>
      </p:sp>
      <p:sp>
        <p:nvSpPr>
          <p:cNvPr id="165" name="Oval 40"/>
          <p:cNvSpPr/>
          <p:nvPr/>
        </p:nvSpPr>
        <p:spPr>
          <a:xfrm>
            <a:off x="6528816" y="5769864"/>
            <a:ext cx="256033" cy="256033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TextBox 42"/>
          <p:cNvSpPr txBox="1"/>
          <p:nvPr/>
        </p:nvSpPr>
        <p:spPr>
          <a:xfrm>
            <a:off x="6885431" y="5779006"/>
            <a:ext cx="91440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A9080"/>
                </a:solidFill>
              </a:defRPr>
            </a:lvl1pPr>
          </a:lstStyle>
          <a:p>
            <a:pPr/>
            <a:r>
              <a:t>Drug</a:t>
            </a:r>
          </a:p>
        </p:txBody>
      </p:sp>
      <p:sp>
        <p:nvSpPr>
          <p:cNvPr id="167" name="Oval 43"/>
          <p:cNvSpPr/>
          <p:nvPr/>
        </p:nvSpPr>
        <p:spPr>
          <a:xfrm>
            <a:off x="7644383" y="5769864"/>
            <a:ext cx="256033" cy="256033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45"/>
          <p:cNvSpPr txBox="1"/>
          <p:nvPr/>
        </p:nvSpPr>
        <p:spPr>
          <a:xfrm>
            <a:off x="8000998" y="5779006"/>
            <a:ext cx="118872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A9080"/>
                </a:solidFill>
              </a:defRPr>
            </a:lvl1pPr>
          </a:lstStyle>
          <a:p>
            <a:pPr/>
            <a:r>
              <a:t>Gene/Protein</a:t>
            </a:r>
          </a:p>
        </p:txBody>
      </p:sp>
      <p:sp>
        <p:nvSpPr>
          <p:cNvPr id="169" name="Oval 46"/>
          <p:cNvSpPr/>
          <p:nvPr/>
        </p:nvSpPr>
        <p:spPr>
          <a:xfrm>
            <a:off x="9290304" y="5769864"/>
            <a:ext cx="256033" cy="256033"/>
          </a:xfrm>
          <a:prstGeom prst="ellipse">
            <a:avLst/>
          </a:prstGeom>
          <a:solidFill>
            <a:srgbClr val="163024"/>
          </a:solidFill>
          <a:ln w="2286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TextBox 48"/>
          <p:cNvSpPr txBox="1"/>
          <p:nvPr/>
        </p:nvSpPr>
        <p:spPr>
          <a:xfrm>
            <a:off x="9646919" y="5779006"/>
            <a:ext cx="10058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A9080"/>
                </a:solidFill>
              </a:defRPr>
            </a:lvl1pPr>
          </a:lstStyle>
          <a:p>
            <a:pPr/>
            <a:r>
              <a:t>Disease</a:t>
            </a:r>
          </a:p>
        </p:txBody>
      </p:sp>
      <p:sp>
        <p:nvSpPr>
          <p:cNvPr id="171" name="Rectangle 49"/>
          <p:cNvSpPr/>
          <p:nvPr/>
        </p:nvSpPr>
        <p:spPr>
          <a:xfrm>
            <a:off x="5989320" y="1325880"/>
            <a:ext cx="12701" cy="530352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03a</a:t>
            </a:r>
          </a:p>
        </p:txBody>
      </p:sp>
      <p:sp>
        <p:nvSpPr>
          <p:cNvPr id="178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HGNNs: Heterogeneous Graph Neural Networks</a:t>
            </a:r>
          </a:p>
        </p:txBody>
      </p:sp>
      <p:sp>
        <p:nvSpPr>
          <p:cNvPr id="179" name="Rectangle 5"/>
          <p:cNvSpPr/>
          <p:nvPr/>
        </p:nvSpPr>
        <p:spPr>
          <a:xfrm>
            <a:off x="10287000" y="425195"/>
            <a:ext cx="162763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6"/>
          <p:cNvSpPr txBox="1"/>
          <p:nvPr/>
        </p:nvSpPr>
        <p:spPr>
          <a:xfrm>
            <a:off x="10668985" y="502964"/>
            <a:ext cx="8636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Hu et al., 2025</a:t>
            </a:r>
          </a:p>
        </p:txBody>
      </p:sp>
      <p:sp>
        <p:nvSpPr>
          <p:cNvPr id="181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8"/>
          <p:cNvSpPr txBox="1"/>
          <p:nvPr/>
        </p:nvSpPr>
        <p:spPr>
          <a:xfrm>
            <a:off x="411479" y="1435608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0EBE0"/>
                </a:solidFill>
              </a:defRPr>
            </a:lvl1pPr>
          </a:lstStyle>
          <a:p>
            <a:pPr/>
            <a:r>
              <a:t>Hu et al. 2025 benchmarked 9 HGNNs: GCN-based and GAT-based</a:t>
            </a:r>
          </a:p>
        </p:txBody>
      </p:sp>
      <p:sp>
        <p:nvSpPr>
          <p:cNvPr id="183" name="TextBox 9"/>
          <p:cNvSpPr txBox="1"/>
          <p:nvPr/>
        </p:nvSpPr>
        <p:spPr>
          <a:xfrm>
            <a:off x="411479" y="2011679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HGNNS</a:t>
            </a:r>
          </a:p>
        </p:txBody>
      </p:sp>
      <p:sp>
        <p:nvSpPr>
          <p:cNvPr id="184" name="TextBox 10"/>
          <p:cNvSpPr txBox="1"/>
          <p:nvPr/>
        </p:nvSpPr>
        <p:spPr>
          <a:xfrm>
            <a:off x="411479" y="2322576"/>
            <a:ext cx="530352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Extend standard GNNs by using type-specific learnable transformation matrices W for different edge types.</a:t>
            </a:r>
          </a:p>
        </p:txBody>
      </p:sp>
      <p:sp>
        <p:nvSpPr>
          <p:cNvPr id="185" name="TextBox 11"/>
          <p:cNvSpPr txBox="1"/>
          <p:nvPr/>
        </p:nvSpPr>
        <p:spPr>
          <a:xfrm>
            <a:off x="411479" y="2926079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GCN-BASED</a:t>
            </a:r>
          </a:p>
        </p:txBody>
      </p:sp>
      <p:sp>
        <p:nvSpPr>
          <p:cNvPr id="186" name="TextBox 12"/>
          <p:cNvSpPr txBox="1"/>
          <p:nvPr/>
        </p:nvSpPr>
        <p:spPr>
          <a:xfrm>
            <a:off x="411479" y="3236976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R-GCN  ·  CompGCN</a:t>
            </a:r>
          </a:p>
        </p:txBody>
      </p:sp>
      <p:sp>
        <p:nvSpPr>
          <p:cNvPr id="187" name="TextBox 13"/>
          <p:cNvSpPr txBox="1"/>
          <p:nvPr/>
        </p:nvSpPr>
        <p:spPr>
          <a:xfrm>
            <a:off x="411479" y="3749038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GAT-BASED</a:t>
            </a:r>
          </a:p>
        </p:txBody>
      </p:sp>
      <p:sp>
        <p:nvSpPr>
          <p:cNvPr id="188" name="TextBox 14"/>
          <p:cNvSpPr txBox="1"/>
          <p:nvPr/>
        </p:nvSpPr>
        <p:spPr>
          <a:xfrm>
            <a:off x="411479" y="4059935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R-GAT  ·  HAN  ·  HPN  ·  ie-HGCN  ·  HGT  ·  HetSANN  ·  Simple-HGN</a:t>
            </a:r>
          </a:p>
        </p:txBody>
      </p:sp>
      <p:sp>
        <p:nvSpPr>
          <p:cNvPr id="189" name="Rectangle 15"/>
          <p:cNvSpPr/>
          <p:nvPr/>
        </p:nvSpPr>
        <p:spPr>
          <a:xfrm>
            <a:off x="365759" y="4572000"/>
            <a:ext cx="5394962" cy="694945"/>
          </a:xfrm>
          <a:prstGeom prst="rect">
            <a:avLst/>
          </a:prstGeom>
          <a:solidFill>
            <a:srgbClr val="242019"/>
          </a:solidFill>
          <a:ln w="1270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16"/>
          <p:cNvSpPr txBox="1"/>
          <p:nvPr/>
        </p:nvSpPr>
        <p:spPr>
          <a:xfrm>
            <a:off x="521207" y="4654296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KEY DIFFERENCE FROM GCN-BASED</a:t>
            </a:r>
          </a:p>
        </p:txBody>
      </p:sp>
      <p:sp>
        <p:nvSpPr>
          <p:cNvPr id="191" name="TextBox 17"/>
          <p:cNvSpPr txBox="1"/>
          <p:nvPr/>
        </p:nvSpPr>
        <p:spPr>
          <a:xfrm>
            <a:off x="521207" y="4919471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Adds attention weights during neighbor aggregation</a:t>
            </a:r>
          </a:p>
        </p:txBody>
      </p:sp>
      <p:sp>
        <p:nvSpPr>
          <p:cNvPr id="192" name="Rectangle 18"/>
          <p:cNvSpPr/>
          <p:nvPr/>
        </p:nvSpPr>
        <p:spPr>
          <a:xfrm rot="2519233">
            <a:off x="7078350" y="2702050"/>
            <a:ext cx="1845300" cy="36577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TextBox 19"/>
          <p:cNvSpPr txBox="1"/>
          <p:nvPr/>
        </p:nvSpPr>
        <p:spPr>
          <a:xfrm>
            <a:off x="7765497" y="2564890"/>
            <a:ext cx="471003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 sz="1000">
                <a:solidFill>
                  <a:srgbClr val="F0EBE0"/>
                </a:solidFill>
              </a:defRPr>
            </a:pPr>
            <a:r>
              <a:t>targets</a:t>
            </a:r>
          </a:p>
          <a:p>
            <a:pPr algn="ctr">
              <a:defRPr i="1" sz="1000">
                <a:solidFill>
                  <a:srgbClr val="F0EBE0"/>
                </a:solidFill>
              </a:defRPr>
            </a:pPr>
            <a:r>
              <a:t>W_tar</a:t>
            </a:r>
          </a:p>
        </p:txBody>
      </p:sp>
      <p:sp>
        <p:nvSpPr>
          <p:cNvPr id="194" name="Rectangle 20"/>
          <p:cNvSpPr/>
          <p:nvPr/>
        </p:nvSpPr>
        <p:spPr>
          <a:xfrm rot="8280767">
            <a:off x="8449950" y="2702050"/>
            <a:ext cx="1845300" cy="36577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TextBox 21"/>
          <p:cNvSpPr txBox="1"/>
          <p:nvPr/>
        </p:nvSpPr>
        <p:spPr>
          <a:xfrm>
            <a:off x="9137099" y="2564890"/>
            <a:ext cx="47100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 sz="1000">
                <a:solidFill>
                  <a:srgbClr val="F0EBE0"/>
                </a:solidFill>
              </a:defRPr>
            </a:pPr>
            <a:r>
              <a:t>targets</a:t>
            </a:r>
          </a:p>
          <a:p>
            <a:pPr algn="ctr">
              <a:defRPr i="1" sz="1000">
                <a:solidFill>
                  <a:srgbClr val="F0EBE0"/>
                </a:solidFill>
              </a:defRPr>
            </a:pPr>
            <a:r>
              <a:t>W_tar</a:t>
            </a:r>
          </a:p>
        </p:txBody>
      </p:sp>
      <p:sp>
        <p:nvSpPr>
          <p:cNvPr id="196" name="Rectangle 22"/>
          <p:cNvSpPr/>
          <p:nvPr/>
        </p:nvSpPr>
        <p:spPr>
          <a:xfrm rot="5400000">
            <a:off x="8001000" y="4005071"/>
            <a:ext cx="1371600" cy="36577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23"/>
          <p:cNvSpPr txBox="1"/>
          <p:nvPr/>
        </p:nvSpPr>
        <p:spPr>
          <a:xfrm>
            <a:off x="8470490" y="3867911"/>
            <a:ext cx="432617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 sz="1000">
                <a:solidFill>
                  <a:srgbClr val="F0EBE0"/>
                </a:solidFill>
              </a:defRPr>
            </a:pPr>
            <a:r>
              <a:t>linked</a:t>
            </a:r>
          </a:p>
          <a:p>
            <a:pPr algn="ctr">
              <a:defRPr i="1" sz="1000">
                <a:solidFill>
                  <a:srgbClr val="F0EBE0"/>
                </a:solidFill>
              </a:defRPr>
            </a:pPr>
            <a:r>
              <a:t>W_lnk</a:t>
            </a:r>
          </a:p>
        </p:txBody>
      </p:sp>
      <p:sp>
        <p:nvSpPr>
          <p:cNvPr id="198" name="Rectangle 24"/>
          <p:cNvSpPr/>
          <p:nvPr/>
        </p:nvSpPr>
        <p:spPr>
          <a:xfrm rot="6624593">
            <a:off x="5900616" y="3067811"/>
            <a:ext cx="2097647" cy="36577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25"/>
          <p:cNvSpPr txBox="1"/>
          <p:nvPr/>
        </p:nvSpPr>
        <p:spPr>
          <a:xfrm>
            <a:off x="6711272" y="2930651"/>
            <a:ext cx="476335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 sz="1000">
                <a:solidFill>
                  <a:srgbClr val="F0EBE0"/>
                </a:solidFill>
              </a:defRPr>
            </a:pPr>
            <a:r>
              <a:t>binds</a:t>
            </a:r>
          </a:p>
          <a:p>
            <a:pPr algn="ctr">
              <a:defRPr i="1" sz="1000">
                <a:solidFill>
                  <a:srgbClr val="F0EBE0"/>
                </a:solidFill>
              </a:defRPr>
            </a:pPr>
            <a:r>
              <a:t>W_bnd</a:t>
            </a:r>
          </a:p>
        </p:txBody>
      </p:sp>
      <p:sp>
        <p:nvSpPr>
          <p:cNvPr id="200" name="Rectangle 26"/>
          <p:cNvSpPr/>
          <p:nvPr/>
        </p:nvSpPr>
        <p:spPr>
          <a:xfrm rot="1015651">
            <a:off x="6536056" y="4370832"/>
            <a:ext cx="2198367" cy="36577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27"/>
          <p:cNvSpPr txBox="1"/>
          <p:nvPr/>
        </p:nvSpPr>
        <p:spPr>
          <a:xfrm>
            <a:off x="7411241" y="4233671"/>
            <a:ext cx="447996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 sz="1000">
                <a:solidFill>
                  <a:srgbClr val="F0EBE0"/>
                </a:solidFill>
              </a:defRPr>
            </a:pPr>
            <a:r>
              <a:t>assoc.</a:t>
            </a:r>
          </a:p>
          <a:p>
            <a:pPr algn="ctr">
              <a:defRPr i="1" sz="1000">
                <a:solidFill>
                  <a:srgbClr val="F0EBE0"/>
                </a:solidFill>
              </a:defRPr>
            </a:pPr>
            <a:r>
              <a:t>W_asc</a:t>
            </a:r>
          </a:p>
        </p:txBody>
      </p:sp>
      <p:sp>
        <p:nvSpPr>
          <p:cNvPr id="202" name="Oval 28"/>
          <p:cNvSpPr/>
          <p:nvPr/>
        </p:nvSpPr>
        <p:spPr>
          <a:xfrm>
            <a:off x="7022592" y="1810511"/>
            <a:ext cx="585217" cy="585217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29"/>
          <p:cNvSpPr txBox="1"/>
          <p:nvPr/>
        </p:nvSpPr>
        <p:spPr>
          <a:xfrm>
            <a:off x="7105130" y="2432303"/>
            <a:ext cx="4201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900">
                <a:solidFill>
                  <a:srgbClr val="D8D0C0"/>
                </a:solidFill>
              </a:defRPr>
            </a:lvl1pPr>
          </a:lstStyle>
          <a:p>
            <a:pPr/>
            <a:r>
              <a:t>Drug A</a:t>
            </a:r>
          </a:p>
        </p:txBody>
      </p:sp>
      <p:sp>
        <p:nvSpPr>
          <p:cNvPr id="204" name="Oval 30"/>
          <p:cNvSpPr/>
          <p:nvPr/>
        </p:nvSpPr>
        <p:spPr>
          <a:xfrm>
            <a:off x="9765792" y="1810511"/>
            <a:ext cx="585217" cy="585217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31"/>
          <p:cNvSpPr txBox="1"/>
          <p:nvPr/>
        </p:nvSpPr>
        <p:spPr>
          <a:xfrm>
            <a:off x="9850311" y="2432303"/>
            <a:ext cx="416178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900">
                <a:solidFill>
                  <a:srgbClr val="D8D0C0"/>
                </a:solidFill>
              </a:defRPr>
            </a:lvl1pPr>
          </a:lstStyle>
          <a:p>
            <a:pPr/>
            <a:r>
              <a:t>Drug B</a:t>
            </a:r>
          </a:p>
        </p:txBody>
      </p:sp>
      <p:sp>
        <p:nvSpPr>
          <p:cNvPr id="206" name="Oval 32"/>
          <p:cNvSpPr/>
          <p:nvPr/>
        </p:nvSpPr>
        <p:spPr>
          <a:xfrm>
            <a:off x="8394192" y="3044951"/>
            <a:ext cx="585217" cy="58521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33"/>
          <p:cNvSpPr txBox="1"/>
          <p:nvPr/>
        </p:nvSpPr>
        <p:spPr>
          <a:xfrm>
            <a:off x="8511779" y="3666744"/>
            <a:ext cx="3500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900">
                <a:solidFill>
                  <a:srgbClr val="D8D0C0"/>
                </a:solidFill>
              </a:defRPr>
            </a:lvl1pPr>
          </a:lstStyle>
          <a:p>
            <a:pPr/>
            <a:r>
              <a:t>Gene</a:t>
            </a:r>
          </a:p>
        </p:txBody>
      </p:sp>
      <p:sp>
        <p:nvSpPr>
          <p:cNvPr id="208" name="Oval 34"/>
          <p:cNvSpPr/>
          <p:nvPr/>
        </p:nvSpPr>
        <p:spPr>
          <a:xfrm>
            <a:off x="8394192" y="4416552"/>
            <a:ext cx="585217" cy="585217"/>
          </a:xfrm>
          <a:prstGeom prst="ellipse">
            <a:avLst/>
          </a:prstGeom>
          <a:solidFill>
            <a:srgbClr val="163024"/>
          </a:solidFill>
          <a:ln w="2286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35"/>
          <p:cNvSpPr txBox="1"/>
          <p:nvPr/>
        </p:nvSpPr>
        <p:spPr>
          <a:xfrm>
            <a:off x="8457503" y="5038344"/>
            <a:ext cx="45859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900">
                <a:solidFill>
                  <a:srgbClr val="D8D0C0"/>
                </a:solidFill>
              </a:defRPr>
            </a:lvl1pPr>
          </a:lstStyle>
          <a:p>
            <a:pPr/>
            <a:r>
              <a:t>Disease</a:t>
            </a:r>
          </a:p>
        </p:txBody>
      </p:sp>
      <p:sp>
        <p:nvSpPr>
          <p:cNvPr id="210" name="Oval 36"/>
          <p:cNvSpPr/>
          <p:nvPr/>
        </p:nvSpPr>
        <p:spPr>
          <a:xfrm>
            <a:off x="6291071" y="3776471"/>
            <a:ext cx="585217" cy="58521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37"/>
          <p:cNvSpPr txBox="1"/>
          <p:nvPr/>
        </p:nvSpPr>
        <p:spPr>
          <a:xfrm>
            <a:off x="6362839" y="4398264"/>
            <a:ext cx="44168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900">
                <a:solidFill>
                  <a:srgbClr val="D8D0C0"/>
                </a:solidFill>
              </a:defRPr>
            </a:lvl1pPr>
          </a:lstStyle>
          <a:p>
            <a:pPr/>
            <a:r>
              <a:t>Protein</a:t>
            </a:r>
          </a:p>
        </p:txBody>
      </p:sp>
      <p:sp>
        <p:nvSpPr>
          <p:cNvPr id="212" name="TextBox 38"/>
          <p:cNvSpPr txBox="1"/>
          <p:nvPr/>
        </p:nvSpPr>
        <p:spPr>
          <a:xfrm>
            <a:off x="6537959" y="5806440"/>
            <a:ext cx="530352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1" sz="1500">
                <a:solidFill>
                  <a:srgbClr val="F0EBE0"/>
                </a:solidFill>
              </a:defRPr>
            </a:lvl1pPr>
          </a:lstStyle>
          <a:p>
            <a:pPr/>
            <a:r>
              <a:t>Edge type determines which learnable transformation matrix is used</a:t>
            </a:r>
          </a:p>
        </p:txBody>
      </p:sp>
      <p:sp>
        <p:nvSpPr>
          <p:cNvPr id="213" name="Rectangle 39"/>
          <p:cNvSpPr/>
          <p:nvPr/>
        </p:nvSpPr>
        <p:spPr>
          <a:xfrm>
            <a:off x="5989320" y="1325880"/>
            <a:ext cx="12701" cy="530352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03b</a:t>
            </a:r>
          </a:p>
        </p:txBody>
      </p:sp>
      <p:sp>
        <p:nvSpPr>
          <p:cNvPr id="220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HGNNs: Benchmarking for Biomedical Link Prediction</a:t>
            </a:r>
          </a:p>
        </p:txBody>
      </p:sp>
      <p:sp>
        <p:nvSpPr>
          <p:cNvPr id="221" name="Rectangle 5"/>
          <p:cNvSpPr/>
          <p:nvPr/>
        </p:nvSpPr>
        <p:spPr>
          <a:xfrm>
            <a:off x="10287000" y="425195"/>
            <a:ext cx="162763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6"/>
          <p:cNvSpPr txBox="1"/>
          <p:nvPr/>
        </p:nvSpPr>
        <p:spPr>
          <a:xfrm>
            <a:off x="10668985" y="502964"/>
            <a:ext cx="8636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Hu et al., 2025</a:t>
            </a:r>
          </a:p>
        </p:txBody>
      </p:sp>
      <p:sp>
        <p:nvSpPr>
          <p:cNvPr id="223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8"/>
          <p:cNvSpPr txBox="1"/>
          <p:nvPr/>
        </p:nvSpPr>
        <p:spPr>
          <a:xfrm>
            <a:off x="411479" y="1435608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Hu et al. benchmarked 42 techniques in total — 9 generic HGNNs and 33 state-of-the-art biomedical methods — across 8 datasets</a:t>
            </a:r>
          </a:p>
        </p:txBody>
      </p:sp>
      <p:sp>
        <p:nvSpPr>
          <p:cNvPr id="225" name="TextBox 9"/>
          <p:cNvSpPr txBox="1"/>
          <p:nvPr/>
        </p:nvSpPr>
        <p:spPr>
          <a:xfrm>
            <a:off x="411479" y="2011679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FOUR TASKS COVERED</a:t>
            </a:r>
          </a:p>
        </p:txBody>
      </p:sp>
      <p:sp>
        <p:nvSpPr>
          <p:cNvPr id="226" name="Rectangle 10"/>
          <p:cNvSpPr/>
          <p:nvPr/>
        </p:nvSpPr>
        <p:spPr>
          <a:xfrm>
            <a:off x="365759" y="2322576"/>
            <a:ext cx="5394962" cy="1188721"/>
          </a:xfrm>
          <a:prstGeom prst="rect">
            <a:avLst/>
          </a:prstGeom>
          <a:solidFill>
            <a:srgbClr val="242019"/>
          </a:solidFill>
          <a:ln w="1270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11"/>
          <p:cNvSpPr txBox="1"/>
          <p:nvPr/>
        </p:nvSpPr>
        <p:spPr>
          <a:xfrm>
            <a:off x="521207" y="2404872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DDI</a:t>
            </a:r>
          </a:p>
        </p:txBody>
      </p:sp>
      <p:sp>
        <p:nvSpPr>
          <p:cNvPr id="228" name="TextBox 12"/>
          <p:cNvSpPr txBox="1"/>
          <p:nvPr/>
        </p:nvSpPr>
        <p:spPr>
          <a:xfrm>
            <a:off x="521207" y="2670048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Drug-Drug Interaction</a:t>
            </a:r>
          </a:p>
        </p:txBody>
      </p:sp>
      <p:sp>
        <p:nvSpPr>
          <p:cNvPr id="229" name="TextBox 13"/>
          <p:cNvSpPr txBox="1"/>
          <p:nvPr/>
        </p:nvSpPr>
        <p:spPr>
          <a:xfrm>
            <a:off x="521207" y="3072383"/>
            <a:ext cx="50749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D8D0C0"/>
                </a:solidFill>
              </a:defRPr>
            </a:lvl1pPr>
          </a:lstStyle>
          <a:p>
            <a:pPr/>
            <a:r>
              <a:t>DrugBank-DDI</a:t>
            </a:r>
          </a:p>
        </p:txBody>
      </p:sp>
      <p:sp>
        <p:nvSpPr>
          <p:cNvPr id="230" name="Rectangle 14"/>
          <p:cNvSpPr/>
          <p:nvPr/>
        </p:nvSpPr>
        <p:spPr>
          <a:xfrm>
            <a:off x="6035040" y="2322576"/>
            <a:ext cx="5394961" cy="1188721"/>
          </a:xfrm>
          <a:prstGeom prst="rect">
            <a:avLst/>
          </a:prstGeom>
          <a:solidFill>
            <a:srgbClr val="242019"/>
          </a:solidFill>
          <a:ln w="1270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TextBox 15"/>
          <p:cNvSpPr txBox="1"/>
          <p:nvPr/>
        </p:nvSpPr>
        <p:spPr>
          <a:xfrm>
            <a:off x="6190487" y="2404872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DTI</a:t>
            </a:r>
          </a:p>
        </p:txBody>
      </p:sp>
      <p:sp>
        <p:nvSpPr>
          <p:cNvPr id="232" name="TextBox 16"/>
          <p:cNvSpPr txBox="1"/>
          <p:nvPr/>
        </p:nvSpPr>
        <p:spPr>
          <a:xfrm>
            <a:off x="6190487" y="2670048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Drug-Target Interaction</a:t>
            </a:r>
          </a:p>
        </p:txBody>
      </p:sp>
      <p:sp>
        <p:nvSpPr>
          <p:cNvPr id="233" name="TextBox 17"/>
          <p:cNvSpPr txBox="1"/>
          <p:nvPr/>
        </p:nvSpPr>
        <p:spPr>
          <a:xfrm>
            <a:off x="6190487" y="3072383"/>
            <a:ext cx="50749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D8D0C0"/>
                </a:solidFill>
              </a:defRPr>
            </a:lvl1pPr>
          </a:lstStyle>
          <a:p>
            <a:pPr/>
            <a:r>
              <a:t>NeoDTI-Net</a:t>
            </a:r>
          </a:p>
        </p:txBody>
      </p:sp>
      <p:sp>
        <p:nvSpPr>
          <p:cNvPr id="234" name="Rectangle 18"/>
          <p:cNvSpPr/>
          <p:nvPr/>
        </p:nvSpPr>
        <p:spPr>
          <a:xfrm>
            <a:off x="365759" y="3657600"/>
            <a:ext cx="5394962" cy="1188720"/>
          </a:xfrm>
          <a:prstGeom prst="rect">
            <a:avLst/>
          </a:prstGeom>
          <a:solidFill>
            <a:srgbClr val="242019"/>
          </a:solidFill>
          <a:ln w="1270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TextBox 19"/>
          <p:cNvSpPr txBox="1"/>
          <p:nvPr/>
        </p:nvSpPr>
        <p:spPr>
          <a:xfrm>
            <a:off x="521207" y="3739896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PPI</a:t>
            </a:r>
          </a:p>
        </p:txBody>
      </p:sp>
      <p:sp>
        <p:nvSpPr>
          <p:cNvPr id="236" name="TextBox 20"/>
          <p:cNvSpPr txBox="1"/>
          <p:nvPr/>
        </p:nvSpPr>
        <p:spPr>
          <a:xfrm>
            <a:off x="521207" y="4005071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Protein-Protein Interaction</a:t>
            </a:r>
          </a:p>
        </p:txBody>
      </p:sp>
      <p:sp>
        <p:nvSpPr>
          <p:cNvPr id="237" name="TextBox 21"/>
          <p:cNvSpPr txBox="1"/>
          <p:nvPr/>
        </p:nvSpPr>
        <p:spPr>
          <a:xfrm>
            <a:off x="521207" y="4407408"/>
            <a:ext cx="50749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D8D0C0"/>
                </a:solidFill>
              </a:defRPr>
            </a:lvl1pPr>
          </a:lstStyle>
          <a:p>
            <a:pPr/>
            <a:r>
              <a:t>DeepViral-Net · ProGO-Net · STRING-PPI</a:t>
            </a:r>
          </a:p>
        </p:txBody>
      </p:sp>
      <p:sp>
        <p:nvSpPr>
          <p:cNvPr id="238" name="Rectangle 22"/>
          <p:cNvSpPr/>
          <p:nvPr/>
        </p:nvSpPr>
        <p:spPr>
          <a:xfrm>
            <a:off x="6035040" y="3657600"/>
            <a:ext cx="5394961" cy="1188720"/>
          </a:xfrm>
          <a:prstGeom prst="rect">
            <a:avLst/>
          </a:prstGeom>
          <a:solidFill>
            <a:srgbClr val="242019"/>
          </a:solidFill>
          <a:ln w="1270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23"/>
          <p:cNvSpPr txBox="1"/>
          <p:nvPr/>
        </p:nvSpPr>
        <p:spPr>
          <a:xfrm>
            <a:off x="6190487" y="3739896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DDA</a:t>
            </a:r>
          </a:p>
        </p:txBody>
      </p:sp>
      <p:sp>
        <p:nvSpPr>
          <p:cNvPr id="240" name="TextBox 24"/>
          <p:cNvSpPr txBox="1"/>
          <p:nvPr/>
        </p:nvSpPr>
        <p:spPr>
          <a:xfrm>
            <a:off x="6190487" y="4005071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Drug-Disease Association</a:t>
            </a:r>
          </a:p>
        </p:txBody>
      </p:sp>
      <p:sp>
        <p:nvSpPr>
          <p:cNvPr id="241" name="TextBox 25"/>
          <p:cNvSpPr txBox="1"/>
          <p:nvPr/>
        </p:nvSpPr>
        <p:spPr>
          <a:xfrm>
            <a:off x="6190487" y="4407408"/>
            <a:ext cx="50749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D8D0C0"/>
                </a:solidFill>
              </a:defRPr>
            </a:lvl1pPr>
          </a:lstStyle>
          <a:p>
            <a:pPr/>
            <a:r>
              <a:t>deepDR-Net · CTD-DDA · NDFRT-DDA</a:t>
            </a:r>
          </a:p>
        </p:txBody>
      </p:sp>
      <p:sp>
        <p:nvSpPr>
          <p:cNvPr id="242" name="TextBox 26"/>
          <p:cNvSpPr txBox="1"/>
          <p:nvPr/>
        </p:nvSpPr>
        <p:spPr>
          <a:xfrm>
            <a:off x="411479" y="5148071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KEY FINDING</a:t>
            </a:r>
          </a:p>
        </p:txBody>
      </p:sp>
      <p:sp>
        <p:nvSpPr>
          <p:cNvPr id="243" name="Rectangle 27"/>
          <p:cNvSpPr/>
          <p:nvPr/>
        </p:nvSpPr>
        <p:spPr>
          <a:xfrm>
            <a:off x="365759" y="5458967"/>
            <a:ext cx="73153" cy="475488"/>
          </a:xfrm>
          <a:prstGeom prst="rect">
            <a:avLst/>
          </a:prstGeom>
          <a:solidFill>
            <a:srgbClr val="5AB8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Rectangle 28"/>
          <p:cNvSpPr/>
          <p:nvPr/>
        </p:nvSpPr>
        <p:spPr>
          <a:xfrm>
            <a:off x="438912" y="5458967"/>
            <a:ext cx="11356848" cy="475488"/>
          </a:xfrm>
          <a:prstGeom prst="rect">
            <a:avLst/>
          </a:prstGeom>
          <a:solidFill>
            <a:srgbClr val="1630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TextBox 29"/>
          <p:cNvSpPr txBox="1"/>
          <p:nvPr/>
        </p:nvSpPr>
        <p:spPr>
          <a:xfrm>
            <a:off x="576071" y="5557713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Generic HGNNs match or outperform specialized biomedical models — Simple-HGN achieves best results on 4 out of 8 datasets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04a</a:t>
            </a:r>
          </a:p>
        </p:txBody>
      </p:sp>
      <p:sp>
        <p:nvSpPr>
          <p:cNvPr id="252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R-GCN: Drug-Disease Association (DDA)</a:t>
            </a:r>
          </a:p>
        </p:txBody>
      </p:sp>
      <p:sp>
        <p:nvSpPr>
          <p:cNvPr id="253" name="Rectangle 5"/>
          <p:cNvSpPr/>
          <p:nvPr/>
        </p:nvSpPr>
        <p:spPr>
          <a:xfrm>
            <a:off x="10118749" y="425195"/>
            <a:ext cx="179588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6"/>
          <p:cNvSpPr txBox="1"/>
          <p:nvPr/>
        </p:nvSpPr>
        <p:spPr>
          <a:xfrm>
            <a:off x="10542940" y="502964"/>
            <a:ext cx="9475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Xiao et al., 2023</a:t>
            </a:r>
          </a:p>
        </p:txBody>
      </p:sp>
      <p:sp>
        <p:nvSpPr>
          <p:cNvPr id="255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TASK</a:t>
            </a:r>
          </a:p>
        </p:txBody>
      </p:sp>
      <p:sp>
        <p:nvSpPr>
          <p:cNvPr id="257" name="TextBox 9"/>
          <p:cNvSpPr txBox="1"/>
          <p:nvPr/>
        </p:nvSpPr>
        <p:spPr>
          <a:xfrm>
            <a:off x="411479" y="1746504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Predict which existing drugs could treat Alzheimer's disease — using link prediction on a knowledge graph</a:t>
            </a:r>
          </a:p>
        </p:txBody>
      </p:sp>
      <p:sp>
        <p:nvSpPr>
          <p:cNvPr id="258" name="TextBox 10"/>
          <p:cNvSpPr txBox="1"/>
          <p:nvPr/>
        </p:nvSpPr>
        <p:spPr>
          <a:xfrm>
            <a:off x="411479" y="2322576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ADINT KNOWLEDGE GRAPH</a:t>
            </a:r>
          </a:p>
        </p:txBody>
      </p:sp>
      <p:sp>
        <p:nvSpPr>
          <p:cNvPr id="259" name="TextBox 11"/>
          <p:cNvSpPr txBox="1"/>
          <p:nvPr/>
        </p:nvSpPr>
        <p:spPr>
          <a:xfrm>
            <a:off x="411479" y="2633472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Built by integrating SemMedDB and SuppKG — over 1 million relationships across 15 relation types</a:t>
            </a:r>
          </a:p>
        </p:txBody>
      </p:sp>
      <p:sp>
        <p:nvSpPr>
          <p:cNvPr id="260" name="TextBox 12"/>
          <p:cNvSpPr txBox="1"/>
          <p:nvPr/>
        </p:nvSpPr>
        <p:spPr>
          <a:xfrm>
            <a:off x="411479" y="3209544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RESULTS — SIX MODELS COMPARED</a:t>
            </a:r>
          </a:p>
        </p:txBody>
      </p:sp>
      <p:sp>
        <p:nvSpPr>
          <p:cNvPr id="261" name="TextBox 13"/>
          <p:cNvSpPr txBox="1"/>
          <p:nvPr/>
        </p:nvSpPr>
        <p:spPr>
          <a:xfrm>
            <a:off x="411479" y="3520438"/>
            <a:ext cx="1133856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R-GCN achieved the best performance among all six models</a:t>
            </a:r>
          </a:p>
        </p:txBody>
      </p:sp>
      <p:sp>
        <p:nvSpPr>
          <p:cNvPr id="262" name="Rectangle 14"/>
          <p:cNvSpPr/>
          <p:nvPr/>
        </p:nvSpPr>
        <p:spPr>
          <a:xfrm>
            <a:off x="365759" y="4032503"/>
            <a:ext cx="11430001" cy="640081"/>
          </a:xfrm>
          <a:prstGeom prst="rect">
            <a:avLst/>
          </a:prstGeom>
          <a:solidFill>
            <a:srgbClr val="242019"/>
          </a:solidFill>
          <a:ln w="1905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TextBox 15"/>
          <p:cNvSpPr txBox="1"/>
          <p:nvPr/>
        </p:nvSpPr>
        <p:spPr>
          <a:xfrm>
            <a:off x="548639" y="4159856"/>
            <a:ext cx="4123927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100">
                <a:solidFill>
                  <a:srgbClr val="D8D0C0"/>
                </a:solidFill>
              </a:defRPr>
            </a:pPr>
            <a:r>
              <a:t>R-GCN MRR =  </a:t>
            </a:r>
            <a:r>
              <a:rPr b="1" sz="2200">
                <a:solidFill>
                  <a:srgbClr val="5AB88A"/>
                </a:solidFill>
              </a:rPr>
              <a:t>0.86</a:t>
            </a:r>
            <a:r>
              <a:rPr>
                <a:solidFill>
                  <a:srgbClr val="9A9080"/>
                </a:solidFill>
              </a:rPr>
              <a:t>  Clinical trials test set  (next best: TransE ~0.63)</a:t>
            </a:r>
          </a:p>
        </p:txBody>
      </p:sp>
      <p:sp>
        <p:nvSpPr>
          <p:cNvPr id="264" name="TextBox 16"/>
          <p:cNvSpPr txBox="1"/>
          <p:nvPr/>
        </p:nvSpPr>
        <p:spPr>
          <a:xfrm>
            <a:off x="411479" y="4818888"/>
            <a:ext cx="113385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400">
                <a:solidFill>
                  <a:srgbClr val="9A9080"/>
                </a:solidFill>
              </a:defRPr>
            </a:lvl1pPr>
          </a:lstStyle>
          <a:p>
            <a:pPr/>
            <a:r>
              <a:t>MRR = Mean Reciprocal Rank — how highly the correct drug is ranked on average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04b</a:t>
            </a:r>
          </a:p>
        </p:txBody>
      </p:sp>
      <p:sp>
        <p:nvSpPr>
          <p:cNvPr id="271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R-GCN: Alzheimer's Drug Candidates</a:t>
            </a:r>
          </a:p>
        </p:txBody>
      </p:sp>
      <p:sp>
        <p:nvSpPr>
          <p:cNvPr id="272" name="Rectangle 5"/>
          <p:cNvSpPr/>
          <p:nvPr/>
        </p:nvSpPr>
        <p:spPr>
          <a:xfrm>
            <a:off x="10118749" y="425195"/>
            <a:ext cx="179588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6"/>
          <p:cNvSpPr txBox="1"/>
          <p:nvPr/>
        </p:nvSpPr>
        <p:spPr>
          <a:xfrm>
            <a:off x="10542940" y="502964"/>
            <a:ext cx="9475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Xiao et al., 2023</a:t>
            </a:r>
          </a:p>
        </p:txBody>
      </p:sp>
      <p:sp>
        <p:nvSpPr>
          <p:cNvPr id="274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APPLICATION</a:t>
            </a:r>
          </a:p>
        </p:txBody>
      </p:sp>
      <p:sp>
        <p:nvSpPr>
          <p:cNvPr id="276" name="TextBox 9"/>
          <p:cNvSpPr txBox="1"/>
          <p:nvPr/>
        </p:nvSpPr>
        <p:spPr>
          <a:xfrm>
            <a:off x="411479" y="1746504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Generate candidate drugs for Alzheimer's disease using the trained R-GCN model</a:t>
            </a:r>
          </a:p>
        </p:txBody>
      </p:sp>
      <p:sp>
        <p:nvSpPr>
          <p:cNvPr id="277" name="TextBox 10"/>
          <p:cNvSpPr txBox="1"/>
          <p:nvPr/>
        </p:nvSpPr>
        <p:spPr>
          <a:xfrm>
            <a:off x="411479" y="2322576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TOP PREDICTIONS</a:t>
            </a:r>
          </a:p>
        </p:txBody>
      </p:sp>
      <p:sp>
        <p:nvSpPr>
          <p:cNvPr id="278" name="Rectangle 11"/>
          <p:cNvSpPr/>
          <p:nvPr/>
        </p:nvSpPr>
        <p:spPr>
          <a:xfrm>
            <a:off x="365759" y="2633472"/>
            <a:ext cx="5394962" cy="1188720"/>
          </a:xfrm>
          <a:prstGeom prst="rect">
            <a:avLst/>
          </a:prstGeom>
          <a:solidFill>
            <a:srgbClr val="242019"/>
          </a:solidFill>
          <a:ln w="1270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12"/>
          <p:cNvSpPr txBox="1"/>
          <p:nvPr/>
        </p:nvSpPr>
        <p:spPr>
          <a:xfrm>
            <a:off x="521207" y="2715767"/>
            <a:ext cx="50749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RANKED 6TH</a:t>
            </a:r>
          </a:p>
        </p:txBody>
      </p:sp>
      <p:sp>
        <p:nvSpPr>
          <p:cNvPr id="280" name="TextBox 13"/>
          <p:cNvSpPr txBox="1"/>
          <p:nvPr/>
        </p:nvSpPr>
        <p:spPr>
          <a:xfrm>
            <a:off x="521207" y="2980944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Tyrosine kinase inhibitor</a:t>
            </a:r>
          </a:p>
        </p:txBody>
      </p:sp>
      <p:sp>
        <p:nvSpPr>
          <p:cNvPr id="281" name="TextBox 14"/>
          <p:cNvSpPr txBox="1"/>
          <p:nvPr/>
        </p:nvSpPr>
        <p:spPr>
          <a:xfrm>
            <a:off x="521207" y="3383279"/>
            <a:ext cx="5074921" cy="314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5AB88A"/>
                </a:solidFill>
              </a:defRPr>
            </a:pPr>
            <a:r>
              <a:t>Already in ClinicalTrials.gov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82" name="Rectangle 15"/>
          <p:cNvSpPr/>
          <p:nvPr/>
        </p:nvSpPr>
        <p:spPr>
          <a:xfrm>
            <a:off x="6035040" y="2633472"/>
            <a:ext cx="5394961" cy="1188720"/>
          </a:xfrm>
          <a:prstGeom prst="rect">
            <a:avLst/>
          </a:prstGeom>
          <a:solidFill>
            <a:srgbClr val="242019"/>
          </a:solidFill>
          <a:ln w="1270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TextBox 16"/>
          <p:cNvSpPr txBox="1"/>
          <p:nvPr/>
        </p:nvSpPr>
        <p:spPr>
          <a:xfrm>
            <a:off x="6190487" y="2715767"/>
            <a:ext cx="50749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RANKED 10TH</a:t>
            </a:r>
          </a:p>
        </p:txBody>
      </p:sp>
      <p:sp>
        <p:nvSpPr>
          <p:cNvPr id="284" name="TextBox 17"/>
          <p:cNvSpPr txBox="1"/>
          <p:nvPr/>
        </p:nvSpPr>
        <p:spPr>
          <a:xfrm>
            <a:off x="6190487" y="2980944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Imidazole</a:t>
            </a:r>
          </a:p>
        </p:txBody>
      </p:sp>
      <p:sp>
        <p:nvSpPr>
          <p:cNvPr id="285" name="TextBox 18"/>
          <p:cNvSpPr txBox="1"/>
          <p:nvPr/>
        </p:nvSpPr>
        <p:spPr>
          <a:xfrm>
            <a:off x="6190487" y="3383279"/>
            <a:ext cx="5074921" cy="314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5AB88A"/>
                </a:solidFill>
              </a:defRPr>
            </a:pPr>
            <a:r>
              <a:t>Already in ClinicalTrials.gov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86" name="Rectangle 19"/>
          <p:cNvSpPr/>
          <p:nvPr/>
        </p:nvSpPr>
        <p:spPr>
          <a:xfrm>
            <a:off x="365759" y="4123944"/>
            <a:ext cx="73153" cy="475488"/>
          </a:xfrm>
          <a:prstGeom prst="rect">
            <a:avLst/>
          </a:prstGeom>
          <a:solidFill>
            <a:srgbClr val="5AB8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Rectangle 20"/>
          <p:cNvSpPr/>
          <p:nvPr/>
        </p:nvSpPr>
        <p:spPr>
          <a:xfrm>
            <a:off x="438912" y="4123944"/>
            <a:ext cx="11356848" cy="475488"/>
          </a:xfrm>
          <a:prstGeom prst="rect">
            <a:avLst/>
          </a:prstGeom>
          <a:solidFill>
            <a:srgbClr val="1630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21"/>
          <p:cNvSpPr txBox="1"/>
          <p:nvPr/>
        </p:nvSpPr>
        <p:spPr>
          <a:xfrm>
            <a:off x="576071" y="4222689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Two top predictions already validated — the model is picking up real biological signal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05a</a:t>
            </a:r>
          </a:p>
        </p:txBody>
      </p:sp>
      <p:sp>
        <p:nvSpPr>
          <p:cNvPr id="295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HetrosimGCN-GAT: Architecture</a:t>
            </a:r>
          </a:p>
        </p:txBody>
      </p:sp>
      <p:sp>
        <p:nvSpPr>
          <p:cNvPr id="296" name="Rectangle 5"/>
          <p:cNvSpPr/>
          <p:nvPr/>
        </p:nvSpPr>
        <p:spPr>
          <a:xfrm>
            <a:off x="9445752" y="425195"/>
            <a:ext cx="2468880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TextBox 6"/>
          <p:cNvSpPr txBox="1"/>
          <p:nvPr/>
        </p:nvSpPr>
        <p:spPr>
          <a:xfrm>
            <a:off x="9948783" y="502964"/>
            <a:ext cx="146281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Mythili &amp; Parthiban, 2023</a:t>
            </a:r>
          </a:p>
        </p:txBody>
      </p:sp>
      <p:sp>
        <p:nvSpPr>
          <p:cNvPr id="298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HETROSIMGCN-GAT — TWO MODELS COMBINED</a:t>
            </a:r>
          </a:p>
        </p:txBody>
      </p:sp>
      <p:sp>
        <p:nvSpPr>
          <p:cNvPr id="300" name="Rectangle 9"/>
          <p:cNvSpPr/>
          <p:nvPr/>
        </p:nvSpPr>
        <p:spPr>
          <a:xfrm>
            <a:off x="365759" y="1837944"/>
            <a:ext cx="5394962" cy="1371601"/>
          </a:xfrm>
          <a:prstGeom prst="rect">
            <a:avLst/>
          </a:prstGeom>
          <a:solidFill>
            <a:srgbClr val="242019"/>
          </a:solidFill>
          <a:ln w="1270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TextBox 10"/>
          <p:cNvSpPr txBox="1"/>
          <p:nvPr/>
        </p:nvSpPr>
        <p:spPr>
          <a:xfrm>
            <a:off x="521207" y="1920239"/>
            <a:ext cx="50749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GRAPHSAGE</a:t>
            </a:r>
          </a:p>
        </p:txBody>
      </p:sp>
      <p:sp>
        <p:nvSpPr>
          <p:cNvPr id="302" name="TextBox 11"/>
          <p:cNvSpPr txBox="1"/>
          <p:nvPr/>
        </p:nvSpPr>
        <p:spPr>
          <a:xfrm>
            <a:off x="521207" y="2185416"/>
            <a:ext cx="507492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Samples a fixed number of neighbors and aggregates their information</a:t>
            </a:r>
          </a:p>
        </p:txBody>
      </p:sp>
      <p:sp>
        <p:nvSpPr>
          <p:cNvPr id="303" name="TextBox 12"/>
          <p:cNvSpPr txBox="1"/>
          <p:nvPr/>
        </p:nvSpPr>
        <p:spPr>
          <a:xfrm>
            <a:off x="521207" y="2862072"/>
            <a:ext cx="507492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D8D0C0"/>
                </a:solidFill>
              </a:defRPr>
            </a:lvl1pPr>
          </a:lstStyle>
          <a:p>
            <a:pPr/>
            <a:r>
              <a:t>Scales well to large graphs — does not require all neighbors</a:t>
            </a:r>
          </a:p>
        </p:txBody>
      </p:sp>
      <p:sp>
        <p:nvSpPr>
          <p:cNvPr id="304" name="Rectangle 13"/>
          <p:cNvSpPr/>
          <p:nvPr/>
        </p:nvSpPr>
        <p:spPr>
          <a:xfrm>
            <a:off x="365759" y="3355847"/>
            <a:ext cx="5394962" cy="1371601"/>
          </a:xfrm>
          <a:prstGeom prst="rect">
            <a:avLst/>
          </a:prstGeom>
          <a:solidFill>
            <a:srgbClr val="242019"/>
          </a:solidFill>
          <a:ln w="1270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TextBox 14"/>
          <p:cNvSpPr txBox="1"/>
          <p:nvPr/>
        </p:nvSpPr>
        <p:spPr>
          <a:xfrm>
            <a:off x="521207" y="3438144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GAT (GRAPH ATTENTION NETWORK)</a:t>
            </a:r>
          </a:p>
        </p:txBody>
      </p:sp>
      <p:sp>
        <p:nvSpPr>
          <p:cNvPr id="306" name="TextBox 15"/>
          <p:cNvSpPr txBox="1"/>
          <p:nvPr/>
        </p:nvSpPr>
        <p:spPr>
          <a:xfrm>
            <a:off x="521207" y="3703320"/>
            <a:ext cx="507492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Learns an attention weight for each neighbor — not all neighbors contribute equally</a:t>
            </a:r>
          </a:p>
        </p:txBody>
      </p:sp>
      <p:sp>
        <p:nvSpPr>
          <p:cNvPr id="307" name="TextBox 16"/>
          <p:cNvSpPr txBox="1"/>
          <p:nvPr/>
        </p:nvSpPr>
        <p:spPr>
          <a:xfrm>
            <a:off x="521207" y="4379976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Focuses on the most informative neighbors during aggregation</a:t>
            </a:r>
          </a:p>
        </p:txBody>
      </p:sp>
      <p:sp>
        <p:nvSpPr>
          <p:cNvPr id="308" name="Rectangle 17"/>
          <p:cNvSpPr/>
          <p:nvPr/>
        </p:nvSpPr>
        <p:spPr>
          <a:xfrm>
            <a:off x="365759" y="4937759"/>
            <a:ext cx="73153" cy="640081"/>
          </a:xfrm>
          <a:prstGeom prst="rect">
            <a:avLst/>
          </a:prstGeom>
          <a:solidFill>
            <a:srgbClr val="5AB8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Rectangle 18"/>
          <p:cNvSpPr/>
          <p:nvPr/>
        </p:nvSpPr>
        <p:spPr>
          <a:xfrm>
            <a:off x="438911" y="4937759"/>
            <a:ext cx="5321810" cy="640081"/>
          </a:xfrm>
          <a:prstGeom prst="rect">
            <a:avLst/>
          </a:prstGeom>
          <a:solidFill>
            <a:srgbClr val="1630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19"/>
          <p:cNvSpPr txBox="1"/>
          <p:nvPr/>
        </p:nvSpPr>
        <p:spPr>
          <a:xfrm>
            <a:off x="576071" y="5004501"/>
            <a:ext cx="5029201" cy="50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GraphSAGE samples neighbors · GAT weights them — same message-passing step</a:t>
            </a:r>
          </a:p>
        </p:txBody>
      </p:sp>
      <p:sp>
        <p:nvSpPr>
          <p:cNvPr id="311" name="TextBox 20"/>
          <p:cNvSpPr txBox="1"/>
          <p:nvPr/>
        </p:nvSpPr>
        <p:spPr>
          <a:xfrm>
            <a:off x="63550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DATASET — BIOKG</a:t>
            </a:r>
          </a:p>
        </p:txBody>
      </p:sp>
      <p:sp>
        <p:nvSpPr>
          <p:cNvPr id="312" name="TextBox 21"/>
          <p:cNvSpPr txBox="1"/>
          <p:nvPr/>
        </p:nvSpPr>
        <p:spPr>
          <a:xfrm>
            <a:off x="6355079" y="1746504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93,773 nodes  ·  51 relation types  ·  4.7 million training triples</a:t>
            </a:r>
          </a:p>
        </p:txBody>
      </p:sp>
      <p:sp>
        <p:nvSpPr>
          <p:cNvPr id="313" name="TextBox 22"/>
          <p:cNvSpPr txBox="1"/>
          <p:nvPr/>
        </p:nvSpPr>
        <p:spPr>
          <a:xfrm>
            <a:off x="6355079" y="2258567"/>
            <a:ext cx="530352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Drug · protein · disease · pathway nodes</a:t>
            </a:r>
          </a:p>
        </p:txBody>
      </p:sp>
      <p:sp>
        <p:nvSpPr>
          <p:cNvPr id="314" name="Oval 23"/>
          <p:cNvSpPr/>
          <p:nvPr/>
        </p:nvSpPr>
        <p:spPr>
          <a:xfrm>
            <a:off x="6419088" y="3127248"/>
            <a:ext cx="512065" cy="512065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TextBox 24"/>
          <p:cNvSpPr txBox="1"/>
          <p:nvPr/>
        </p:nvSpPr>
        <p:spPr>
          <a:xfrm>
            <a:off x="6412383" y="3675888"/>
            <a:ext cx="52547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D8D0C0"/>
                </a:solidFill>
              </a:defRPr>
            </a:lvl1pPr>
          </a:lstStyle>
          <a:p>
            <a:pPr/>
            <a:r>
              <a:t>Drug A</a:t>
            </a:r>
          </a:p>
        </p:txBody>
      </p:sp>
      <p:sp>
        <p:nvSpPr>
          <p:cNvPr id="316" name="Oval 25"/>
          <p:cNvSpPr/>
          <p:nvPr/>
        </p:nvSpPr>
        <p:spPr>
          <a:xfrm>
            <a:off x="9619488" y="3127248"/>
            <a:ext cx="512065" cy="512065"/>
          </a:xfrm>
          <a:prstGeom prst="ellipse">
            <a:avLst/>
          </a:prstGeom>
          <a:solidFill>
            <a:srgbClr val="163024"/>
          </a:solidFill>
          <a:ln w="2286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26"/>
          <p:cNvSpPr txBox="1"/>
          <p:nvPr/>
        </p:nvSpPr>
        <p:spPr>
          <a:xfrm>
            <a:off x="9528472" y="3675888"/>
            <a:ext cx="694096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D8D0C0"/>
                </a:solidFill>
              </a:defRPr>
            </a:lvl1pPr>
          </a:lstStyle>
          <a:p>
            <a:pPr/>
            <a:r>
              <a:t>Disease B</a:t>
            </a:r>
          </a:p>
        </p:txBody>
      </p:sp>
      <p:sp>
        <p:nvSpPr>
          <p:cNvPr id="318" name="Rectangle 27"/>
          <p:cNvSpPr/>
          <p:nvPr/>
        </p:nvSpPr>
        <p:spPr>
          <a:xfrm>
            <a:off x="6675119" y="3364991"/>
            <a:ext cx="3200401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28"/>
          <p:cNvSpPr txBox="1"/>
          <p:nvPr/>
        </p:nvSpPr>
        <p:spPr>
          <a:xfrm>
            <a:off x="8036315" y="3136392"/>
            <a:ext cx="47801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000">
                <a:solidFill>
                  <a:srgbClr val="9A9080"/>
                </a:solidFill>
              </a:defRPr>
            </a:lvl1pPr>
          </a:lstStyle>
          <a:p>
            <a:pPr/>
            <a:r>
              <a:t>TREATS</a:t>
            </a:r>
          </a:p>
        </p:txBody>
      </p:sp>
      <p:sp>
        <p:nvSpPr>
          <p:cNvPr id="320" name="TextBox 29"/>
          <p:cNvSpPr txBox="1"/>
          <p:nvPr/>
        </p:nvSpPr>
        <p:spPr>
          <a:xfrm>
            <a:off x="7040879" y="3931920"/>
            <a:ext cx="48463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9A9080"/>
                </a:solidFill>
              </a:defRPr>
            </a:lvl1pPr>
          </a:lstStyle>
          <a:p>
            <a:pPr/>
            <a:r>
              <a:t>one triple = (Drug A,  TREATS,  Disease B)</a:t>
            </a:r>
          </a:p>
        </p:txBody>
      </p:sp>
      <p:sp>
        <p:nvSpPr>
          <p:cNvPr id="321" name="TextBox 30"/>
          <p:cNvSpPr txBox="1"/>
          <p:nvPr/>
        </p:nvSpPr>
        <p:spPr>
          <a:xfrm>
            <a:off x="6355079" y="4663440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BASELINES COMPARED</a:t>
            </a:r>
          </a:p>
        </p:txBody>
      </p:sp>
      <p:sp>
        <p:nvSpPr>
          <p:cNvPr id="322" name="TextBox 31"/>
          <p:cNvSpPr txBox="1"/>
          <p:nvPr/>
        </p:nvSpPr>
        <p:spPr>
          <a:xfrm>
            <a:off x="6355079" y="4974335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RA8  ·  LINE ·  NODE2VEC</a:t>
            </a:r>
          </a:p>
        </p:txBody>
      </p:sp>
      <p:sp>
        <p:nvSpPr>
          <p:cNvPr id="323" name="Rectangle 32"/>
          <p:cNvSpPr/>
          <p:nvPr/>
        </p:nvSpPr>
        <p:spPr>
          <a:xfrm>
            <a:off x="5989320" y="1325880"/>
            <a:ext cx="12701" cy="530352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05b</a:t>
            </a:r>
          </a:p>
        </p:txBody>
      </p:sp>
      <p:sp>
        <p:nvSpPr>
          <p:cNvPr id="330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HetrosimGCN-GAT: Tasks &amp; Results</a:t>
            </a:r>
          </a:p>
        </p:txBody>
      </p:sp>
      <p:sp>
        <p:nvSpPr>
          <p:cNvPr id="331" name="Rectangle 5"/>
          <p:cNvSpPr/>
          <p:nvPr/>
        </p:nvSpPr>
        <p:spPr>
          <a:xfrm>
            <a:off x="9445752" y="425195"/>
            <a:ext cx="2468880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TextBox 6"/>
          <p:cNvSpPr txBox="1"/>
          <p:nvPr/>
        </p:nvSpPr>
        <p:spPr>
          <a:xfrm>
            <a:off x="9948783" y="502964"/>
            <a:ext cx="146281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Mythili &amp; Parthiban, 2023</a:t>
            </a:r>
          </a:p>
        </p:txBody>
      </p:sp>
      <p:sp>
        <p:nvSpPr>
          <p:cNvPr id="333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TWO PREDICTION TASKS</a:t>
            </a:r>
          </a:p>
        </p:txBody>
      </p:sp>
      <p:sp>
        <p:nvSpPr>
          <p:cNvPr id="335" name="Rectangle 9"/>
          <p:cNvSpPr/>
          <p:nvPr/>
        </p:nvSpPr>
        <p:spPr>
          <a:xfrm>
            <a:off x="365759" y="1746504"/>
            <a:ext cx="5394962" cy="694945"/>
          </a:xfrm>
          <a:prstGeom prst="rect">
            <a:avLst/>
          </a:prstGeom>
          <a:solidFill>
            <a:srgbClr val="242019"/>
          </a:solidFill>
          <a:ln w="1270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TextBox 10"/>
          <p:cNvSpPr txBox="1"/>
          <p:nvPr/>
        </p:nvSpPr>
        <p:spPr>
          <a:xfrm>
            <a:off x="521207" y="1828800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TASK 1 — DRUG-DRUG INTERACTION (DDI)</a:t>
            </a:r>
          </a:p>
        </p:txBody>
      </p:sp>
      <p:sp>
        <p:nvSpPr>
          <p:cNvPr id="337" name="TextBox 11"/>
          <p:cNvSpPr txBox="1"/>
          <p:nvPr/>
        </p:nvSpPr>
        <p:spPr>
          <a:xfrm>
            <a:off x="521207" y="2093976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Do two drugs interact with each other?</a:t>
            </a:r>
          </a:p>
        </p:txBody>
      </p:sp>
      <p:sp>
        <p:nvSpPr>
          <p:cNvPr id="338" name="Rectangle 12"/>
          <p:cNvSpPr/>
          <p:nvPr/>
        </p:nvSpPr>
        <p:spPr>
          <a:xfrm>
            <a:off x="6309359" y="1746504"/>
            <a:ext cx="5394962" cy="694945"/>
          </a:xfrm>
          <a:prstGeom prst="rect">
            <a:avLst/>
          </a:prstGeom>
          <a:solidFill>
            <a:srgbClr val="242019"/>
          </a:solidFill>
          <a:ln w="1270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TextBox 13"/>
          <p:cNvSpPr txBox="1"/>
          <p:nvPr/>
        </p:nvSpPr>
        <p:spPr>
          <a:xfrm>
            <a:off x="6464807" y="1828800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TASK 2 — DRUG-PROTEIN INTERACTION (DPI)</a:t>
            </a:r>
          </a:p>
        </p:txBody>
      </p:sp>
      <p:sp>
        <p:nvSpPr>
          <p:cNvPr id="340" name="TextBox 14"/>
          <p:cNvSpPr txBox="1"/>
          <p:nvPr/>
        </p:nvSpPr>
        <p:spPr>
          <a:xfrm>
            <a:off x="6464807" y="2093976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Does a drug interact with a specific protein target?</a:t>
            </a:r>
          </a:p>
        </p:txBody>
      </p:sp>
      <p:sp>
        <p:nvSpPr>
          <p:cNvPr id="341" name="Rectangle 15"/>
          <p:cNvSpPr/>
          <p:nvPr/>
        </p:nvSpPr>
        <p:spPr>
          <a:xfrm>
            <a:off x="365759" y="2651760"/>
            <a:ext cx="73153" cy="475488"/>
          </a:xfrm>
          <a:prstGeom prst="rect">
            <a:avLst/>
          </a:prstGeom>
          <a:solidFill>
            <a:srgbClr val="5AB8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Rectangle 16"/>
          <p:cNvSpPr/>
          <p:nvPr/>
        </p:nvSpPr>
        <p:spPr>
          <a:xfrm>
            <a:off x="438912" y="2651760"/>
            <a:ext cx="11356848" cy="475488"/>
          </a:xfrm>
          <a:prstGeom prst="rect">
            <a:avLst/>
          </a:prstGeom>
          <a:solidFill>
            <a:srgbClr val="1630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TextBox 17"/>
          <p:cNvSpPr txBox="1"/>
          <p:nvPr/>
        </p:nvSpPr>
        <p:spPr>
          <a:xfrm>
            <a:off x="576071" y="2750505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Both tasks were trained simultaneously</a:t>
            </a:r>
          </a:p>
        </p:txBody>
      </p:sp>
      <p:sp>
        <p:nvSpPr>
          <p:cNvPr id="344" name="TextBox 18"/>
          <p:cNvSpPr txBox="1"/>
          <p:nvPr/>
        </p:nvSpPr>
        <p:spPr>
          <a:xfrm>
            <a:off x="411479" y="3429000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345" name="TextBox 19"/>
          <p:cNvSpPr txBox="1"/>
          <p:nvPr/>
        </p:nvSpPr>
        <p:spPr>
          <a:xfrm>
            <a:off x="411479" y="3739896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0EBE0"/>
                </a:solidFill>
              </a:defRPr>
            </a:lvl1pPr>
          </a:lstStyle>
          <a:p>
            <a:pPr/>
            <a:r>
              <a:t>Outperforms RA8, LINE, and Node2vec</a:t>
            </a:r>
          </a:p>
        </p:txBody>
      </p:sp>
      <p:sp>
        <p:nvSpPr>
          <p:cNvPr id="346" name="TextBox 20"/>
          <p:cNvSpPr txBox="1"/>
          <p:nvPr/>
        </p:nvSpPr>
        <p:spPr>
          <a:xfrm>
            <a:off x="411479" y="4407408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HIGHLIGHT</a:t>
            </a:r>
          </a:p>
        </p:txBody>
      </p:sp>
      <p:sp>
        <p:nvSpPr>
          <p:cNvPr id="347" name="Rectangle 21"/>
          <p:cNvSpPr/>
          <p:nvPr/>
        </p:nvSpPr>
        <p:spPr>
          <a:xfrm>
            <a:off x="365759" y="4718303"/>
            <a:ext cx="73153" cy="475488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Rectangle 22"/>
          <p:cNvSpPr/>
          <p:nvPr/>
        </p:nvSpPr>
        <p:spPr>
          <a:xfrm>
            <a:off x="438912" y="4718303"/>
            <a:ext cx="11356848" cy="475488"/>
          </a:xfrm>
          <a:prstGeom prst="rect">
            <a:avLst/>
          </a:prstGeom>
          <a:solidFill>
            <a:srgbClr val="3822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TextBox 23"/>
          <p:cNvSpPr txBox="1"/>
          <p:nvPr/>
        </p:nvSpPr>
        <p:spPr>
          <a:xfrm>
            <a:off x="576071" y="4817049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A single heterogeneous graph model can tackle multiple biomedical prediction tasks simultaneously</a:t>
            </a:r>
          </a:p>
        </p:txBody>
      </p:sp>
      <p:sp>
        <p:nvSpPr>
          <p:cNvPr id="350" name="Rectangle 24"/>
          <p:cNvSpPr/>
          <p:nvPr/>
        </p:nvSpPr>
        <p:spPr>
          <a:xfrm>
            <a:off x="365759" y="5340096"/>
            <a:ext cx="73153" cy="475488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Rectangle 25"/>
          <p:cNvSpPr/>
          <p:nvPr/>
        </p:nvSpPr>
        <p:spPr>
          <a:xfrm>
            <a:off x="438912" y="5340096"/>
            <a:ext cx="11356848" cy="475488"/>
          </a:xfrm>
          <a:prstGeom prst="rect">
            <a:avLst/>
          </a:prstGeom>
          <a:solidFill>
            <a:srgbClr val="1628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TextBox 26"/>
          <p:cNvSpPr txBox="1"/>
          <p:nvPr/>
        </p:nvSpPr>
        <p:spPr>
          <a:xfrm>
            <a:off x="576071" y="5438841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Attention over 51 relation types lets the model learn which relations matter most for each task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06a</a:t>
            </a:r>
          </a:p>
        </p:txBody>
      </p:sp>
      <p:sp>
        <p:nvSpPr>
          <p:cNvPr id="359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DRAGON: Drug Repurposing with Node Features</a:t>
            </a:r>
          </a:p>
        </p:txBody>
      </p:sp>
      <p:sp>
        <p:nvSpPr>
          <p:cNvPr id="360" name="Rectangle 5"/>
          <p:cNvSpPr/>
          <p:nvPr/>
        </p:nvSpPr>
        <p:spPr>
          <a:xfrm>
            <a:off x="9277501" y="425195"/>
            <a:ext cx="2637130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TextBox 6"/>
          <p:cNvSpPr txBox="1"/>
          <p:nvPr/>
        </p:nvSpPr>
        <p:spPr>
          <a:xfrm>
            <a:off x="9804258" y="502964"/>
            <a:ext cx="158361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Artiñano-Muñoz et al., 2024</a:t>
            </a:r>
          </a:p>
        </p:txBody>
      </p:sp>
      <p:sp>
        <p:nvSpPr>
          <p:cNvPr id="362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64" name="TextBox 9"/>
          <p:cNvSpPr txBox="1"/>
          <p:nvPr/>
        </p:nvSpPr>
        <p:spPr>
          <a:xfrm>
            <a:off x="411479" y="1746504"/>
            <a:ext cx="530352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DRAGON initializes drug and protein nodes with biologically meaningful embeddings instead of generic node features.</a:t>
            </a:r>
          </a:p>
        </p:txBody>
      </p:sp>
      <p:sp>
        <p:nvSpPr>
          <p:cNvPr id="365" name="Rectangle 10"/>
          <p:cNvSpPr/>
          <p:nvPr/>
        </p:nvSpPr>
        <p:spPr>
          <a:xfrm>
            <a:off x="365759" y="2414016"/>
            <a:ext cx="73153" cy="640081"/>
          </a:xfrm>
          <a:prstGeom prst="rect">
            <a:avLst/>
          </a:prstGeom>
          <a:solidFill>
            <a:srgbClr val="5AB8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Rectangle 11"/>
          <p:cNvSpPr/>
          <p:nvPr/>
        </p:nvSpPr>
        <p:spPr>
          <a:xfrm>
            <a:off x="438911" y="2414016"/>
            <a:ext cx="5321810" cy="640081"/>
          </a:xfrm>
          <a:prstGeom prst="rect">
            <a:avLst/>
          </a:prstGeom>
          <a:solidFill>
            <a:srgbClr val="1630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TextBox 12"/>
          <p:cNvSpPr txBox="1"/>
          <p:nvPr/>
        </p:nvSpPr>
        <p:spPr>
          <a:xfrm>
            <a:off x="576071" y="2480757"/>
            <a:ext cx="5029201" cy="50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DRAGON builds on DMSR, a GraphSAGE-based drug repurposing model</a:t>
            </a:r>
          </a:p>
        </p:txBody>
      </p:sp>
      <p:sp>
        <p:nvSpPr>
          <p:cNvPr id="368" name="Rectangle 13"/>
          <p:cNvSpPr/>
          <p:nvPr/>
        </p:nvSpPr>
        <p:spPr>
          <a:xfrm>
            <a:off x="365759" y="3355847"/>
            <a:ext cx="5394962" cy="914401"/>
          </a:xfrm>
          <a:prstGeom prst="rect">
            <a:avLst/>
          </a:prstGeom>
          <a:solidFill>
            <a:srgbClr val="242019"/>
          </a:solidFill>
          <a:ln w="1270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TextBox 14"/>
          <p:cNvSpPr txBox="1"/>
          <p:nvPr/>
        </p:nvSpPr>
        <p:spPr>
          <a:xfrm>
            <a:off x="521207" y="3438144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DRUG NODES</a:t>
            </a:r>
          </a:p>
        </p:txBody>
      </p:sp>
      <p:sp>
        <p:nvSpPr>
          <p:cNvPr id="370" name="TextBox 15"/>
          <p:cNvSpPr txBox="1"/>
          <p:nvPr/>
        </p:nvSpPr>
        <p:spPr>
          <a:xfrm>
            <a:off x="521207" y="3703320"/>
            <a:ext cx="507492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Embeddings from molecular chemical structure (SMILES notation)</a:t>
            </a:r>
          </a:p>
        </p:txBody>
      </p:sp>
      <p:sp>
        <p:nvSpPr>
          <p:cNvPr id="371" name="Rectangle 16"/>
          <p:cNvSpPr/>
          <p:nvPr/>
        </p:nvSpPr>
        <p:spPr>
          <a:xfrm>
            <a:off x="365759" y="4480559"/>
            <a:ext cx="5394962" cy="914401"/>
          </a:xfrm>
          <a:prstGeom prst="rect">
            <a:avLst/>
          </a:prstGeom>
          <a:solidFill>
            <a:srgbClr val="242019"/>
          </a:solidFill>
          <a:ln w="1270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TextBox 17"/>
          <p:cNvSpPr txBox="1"/>
          <p:nvPr/>
        </p:nvSpPr>
        <p:spPr>
          <a:xfrm>
            <a:off x="521207" y="4562855"/>
            <a:ext cx="50749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PROTEIN NODES</a:t>
            </a:r>
          </a:p>
        </p:txBody>
      </p:sp>
      <p:sp>
        <p:nvSpPr>
          <p:cNvPr id="373" name="TextBox 18"/>
          <p:cNvSpPr txBox="1"/>
          <p:nvPr/>
        </p:nvSpPr>
        <p:spPr>
          <a:xfrm>
            <a:off x="521207" y="4828032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Embeddings from amino acid sequence data</a:t>
            </a:r>
          </a:p>
        </p:txBody>
      </p:sp>
      <p:sp>
        <p:nvSpPr>
          <p:cNvPr id="374" name="TextBox 19"/>
          <p:cNvSpPr txBox="1"/>
          <p:nvPr/>
        </p:nvSpPr>
        <p:spPr>
          <a:xfrm>
            <a:off x="63550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375" name="TextBox 20"/>
          <p:cNvSpPr txBox="1"/>
          <p:nvPr/>
        </p:nvSpPr>
        <p:spPr>
          <a:xfrm>
            <a:off x="6355079" y="1746504"/>
            <a:ext cx="530352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DISNET — a heterogeneous biomedical knowledge graph linking diseases, drugs, proteins, and pathways</a:t>
            </a:r>
          </a:p>
        </p:txBody>
      </p:sp>
      <p:sp>
        <p:nvSpPr>
          <p:cNvPr id="376" name="TextBox 21"/>
          <p:cNvSpPr txBox="1"/>
          <p:nvPr/>
        </p:nvSpPr>
        <p:spPr>
          <a:xfrm>
            <a:off x="6355079" y="2350007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TASK</a:t>
            </a:r>
          </a:p>
        </p:txBody>
      </p:sp>
      <p:sp>
        <p:nvSpPr>
          <p:cNvPr id="377" name="TextBox 22"/>
          <p:cNvSpPr txBox="1"/>
          <p:nvPr/>
        </p:nvSpPr>
        <p:spPr>
          <a:xfrm>
            <a:off x="6355079" y="2660904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Drug-disease link prediction</a:t>
            </a:r>
          </a:p>
        </p:txBody>
      </p:sp>
      <p:sp>
        <p:nvSpPr>
          <p:cNvPr id="378" name="TextBox 23"/>
          <p:cNvSpPr txBox="1"/>
          <p:nvPr/>
        </p:nvSpPr>
        <p:spPr>
          <a:xfrm>
            <a:off x="6355079" y="3328415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THE QUESTION BEING ANSWERED</a:t>
            </a:r>
          </a:p>
        </p:txBody>
      </p:sp>
      <p:sp>
        <p:nvSpPr>
          <p:cNvPr id="379" name="Rectangle 24"/>
          <p:cNvSpPr/>
          <p:nvPr/>
        </p:nvSpPr>
        <p:spPr>
          <a:xfrm>
            <a:off x="6309359" y="3639311"/>
            <a:ext cx="73153" cy="640081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" name="Rectangle 25"/>
          <p:cNvSpPr/>
          <p:nvPr/>
        </p:nvSpPr>
        <p:spPr>
          <a:xfrm>
            <a:off x="6382511" y="3639311"/>
            <a:ext cx="5321810" cy="640081"/>
          </a:xfrm>
          <a:prstGeom prst="rect">
            <a:avLst/>
          </a:prstGeom>
          <a:solidFill>
            <a:srgbClr val="1628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1" name="TextBox 26"/>
          <p:cNvSpPr txBox="1"/>
          <p:nvPr/>
        </p:nvSpPr>
        <p:spPr>
          <a:xfrm>
            <a:off x="6519671" y="3706054"/>
            <a:ext cx="502920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Do biological node features improve prediction, and which feature type helps more: drug structure or protein sequence?</a:t>
            </a:r>
          </a:p>
        </p:txBody>
      </p:sp>
      <p:sp>
        <p:nvSpPr>
          <p:cNvPr id="382" name="Rectangle 27"/>
          <p:cNvSpPr/>
          <p:nvPr/>
        </p:nvSpPr>
        <p:spPr>
          <a:xfrm>
            <a:off x="5989320" y="1325880"/>
            <a:ext cx="12701" cy="530352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7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06b</a:t>
            </a:r>
          </a:p>
        </p:txBody>
      </p:sp>
      <p:sp>
        <p:nvSpPr>
          <p:cNvPr id="389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DRAGON: Results &amp; Takeaway</a:t>
            </a:r>
          </a:p>
        </p:txBody>
      </p:sp>
      <p:sp>
        <p:nvSpPr>
          <p:cNvPr id="390" name="Rectangle 5"/>
          <p:cNvSpPr/>
          <p:nvPr/>
        </p:nvSpPr>
        <p:spPr>
          <a:xfrm>
            <a:off x="9277501" y="425195"/>
            <a:ext cx="2637130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TextBox 6"/>
          <p:cNvSpPr txBox="1"/>
          <p:nvPr/>
        </p:nvSpPr>
        <p:spPr>
          <a:xfrm>
            <a:off x="9804258" y="502964"/>
            <a:ext cx="158361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Artiñano-Muñoz et al., 2024</a:t>
            </a:r>
          </a:p>
        </p:txBody>
      </p:sp>
      <p:sp>
        <p:nvSpPr>
          <p:cNvPr id="392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3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ABLATION STUDY — PR-AUC SCORES</a:t>
            </a:r>
          </a:p>
        </p:txBody>
      </p:sp>
      <p:sp>
        <p:nvSpPr>
          <p:cNvPr id="394" name="Rectangle 9"/>
          <p:cNvSpPr/>
          <p:nvPr/>
        </p:nvSpPr>
        <p:spPr>
          <a:xfrm>
            <a:off x="365759" y="1746504"/>
            <a:ext cx="5394962" cy="694945"/>
          </a:xfrm>
          <a:prstGeom prst="rect">
            <a:avLst/>
          </a:prstGeom>
          <a:solidFill>
            <a:srgbClr val="242019"/>
          </a:solidFill>
          <a:ln w="12700">
            <a:solidFill>
              <a:srgbClr val="3A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5" name="TextBox 10"/>
          <p:cNvSpPr txBox="1"/>
          <p:nvPr/>
        </p:nvSpPr>
        <p:spPr>
          <a:xfrm>
            <a:off x="521207" y="1828800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NO EMBEDDINGS (GRAPH STRUCTURE ONLY)</a:t>
            </a:r>
          </a:p>
        </p:txBody>
      </p:sp>
      <p:sp>
        <p:nvSpPr>
          <p:cNvPr id="396" name="TextBox 11"/>
          <p:cNvSpPr txBox="1"/>
          <p:nvPr/>
        </p:nvSpPr>
        <p:spPr>
          <a:xfrm>
            <a:off x="521207" y="2093976"/>
            <a:ext cx="507492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D8D0C0"/>
                </a:solidFill>
              </a:defRPr>
            </a:lvl1pPr>
          </a:lstStyle>
          <a:p>
            <a:pPr/>
            <a:r>
              <a:t>PR-AUC = 0.917</a:t>
            </a:r>
          </a:p>
        </p:txBody>
      </p:sp>
      <p:sp>
        <p:nvSpPr>
          <p:cNvPr id="397" name="Rectangle 12"/>
          <p:cNvSpPr/>
          <p:nvPr/>
        </p:nvSpPr>
        <p:spPr>
          <a:xfrm>
            <a:off x="365759" y="2587751"/>
            <a:ext cx="5394962" cy="694945"/>
          </a:xfrm>
          <a:prstGeom prst="rect">
            <a:avLst/>
          </a:prstGeom>
          <a:solidFill>
            <a:srgbClr val="242019"/>
          </a:solidFill>
          <a:ln w="12700">
            <a:solidFill>
              <a:srgbClr val="3A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8" name="TextBox 13"/>
          <p:cNvSpPr txBox="1"/>
          <p:nvPr/>
        </p:nvSpPr>
        <p:spPr>
          <a:xfrm>
            <a:off x="521207" y="2670048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DRUG EMBEDDINGS ONLY</a:t>
            </a:r>
          </a:p>
        </p:txBody>
      </p:sp>
      <p:sp>
        <p:nvSpPr>
          <p:cNvPr id="399" name="TextBox 14"/>
          <p:cNvSpPr txBox="1"/>
          <p:nvPr/>
        </p:nvSpPr>
        <p:spPr>
          <a:xfrm>
            <a:off x="521207" y="2935223"/>
            <a:ext cx="507492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D8D0C0"/>
                </a:solidFill>
              </a:defRPr>
            </a:lvl1pPr>
          </a:lstStyle>
          <a:p>
            <a:pPr/>
            <a:r>
              <a:t>PR-AUC = 0.921</a:t>
            </a:r>
          </a:p>
        </p:txBody>
      </p:sp>
      <p:sp>
        <p:nvSpPr>
          <p:cNvPr id="400" name="Rectangle 15"/>
          <p:cNvSpPr/>
          <p:nvPr/>
        </p:nvSpPr>
        <p:spPr>
          <a:xfrm>
            <a:off x="365759" y="3429000"/>
            <a:ext cx="5394962" cy="694945"/>
          </a:xfrm>
          <a:prstGeom prst="rect">
            <a:avLst/>
          </a:prstGeom>
          <a:solidFill>
            <a:srgbClr val="242019"/>
          </a:solidFill>
          <a:ln w="12700">
            <a:solidFill>
              <a:srgbClr val="3A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1" name="TextBox 16"/>
          <p:cNvSpPr txBox="1"/>
          <p:nvPr/>
        </p:nvSpPr>
        <p:spPr>
          <a:xfrm>
            <a:off x="521207" y="3511296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PROTEIN EMBEDDINGS ONLY</a:t>
            </a:r>
          </a:p>
        </p:txBody>
      </p:sp>
      <p:sp>
        <p:nvSpPr>
          <p:cNvPr id="402" name="TextBox 17"/>
          <p:cNvSpPr txBox="1"/>
          <p:nvPr/>
        </p:nvSpPr>
        <p:spPr>
          <a:xfrm>
            <a:off x="521207" y="3776471"/>
            <a:ext cx="507492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D8D0C0"/>
                </a:solidFill>
              </a:defRPr>
            </a:lvl1pPr>
          </a:lstStyle>
          <a:p>
            <a:pPr/>
            <a:r>
              <a:t>PR-AUC = 0.933</a:t>
            </a:r>
          </a:p>
        </p:txBody>
      </p:sp>
      <p:sp>
        <p:nvSpPr>
          <p:cNvPr id="403" name="Rectangle 18"/>
          <p:cNvSpPr/>
          <p:nvPr/>
        </p:nvSpPr>
        <p:spPr>
          <a:xfrm>
            <a:off x="365759" y="4270247"/>
            <a:ext cx="5394962" cy="694945"/>
          </a:xfrm>
          <a:prstGeom prst="rect">
            <a:avLst/>
          </a:prstGeom>
          <a:solidFill>
            <a:srgbClr val="242019"/>
          </a:solidFill>
          <a:ln w="1270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4" name="TextBox 19"/>
          <p:cNvSpPr txBox="1"/>
          <p:nvPr/>
        </p:nvSpPr>
        <p:spPr>
          <a:xfrm>
            <a:off x="521207" y="4352544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BOTH — DRAGON</a:t>
            </a:r>
          </a:p>
        </p:txBody>
      </p:sp>
      <p:sp>
        <p:nvSpPr>
          <p:cNvPr id="405" name="TextBox 20"/>
          <p:cNvSpPr txBox="1"/>
          <p:nvPr/>
        </p:nvSpPr>
        <p:spPr>
          <a:xfrm>
            <a:off x="521207" y="4617720"/>
            <a:ext cx="5074921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700">
                <a:solidFill>
                  <a:srgbClr val="5AB88A"/>
                </a:solidFill>
              </a:defRPr>
            </a:lvl1pPr>
          </a:lstStyle>
          <a:p>
            <a:pPr/>
            <a:r>
              <a:t>PR-AUC = 0.945</a:t>
            </a:r>
          </a:p>
        </p:txBody>
      </p:sp>
      <p:sp>
        <p:nvSpPr>
          <p:cNvPr id="406" name="TextBox 21"/>
          <p:cNvSpPr txBox="1"/>
          <p:nvPr/>
        </p:nvSpPr>
        <p:spPr>
          <a:xfrm>
            <a:off x="63550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MAIN FINDINGS</a:t>
            </a:r>
          </a:p>
        </p:txBody>
      </p:sp>
      <p:sp>
        <p:nvSpPr>
          <p:cNvPr id="407" name="Rectangle 22"/>
          <p:cNvSpPr/>
          <p:nvPr/>
        </p:nvSpPr>
        <p:spPr>
          <a:xfrm>
            <a:off x="6309359" y="1746504"/>
            <a:ext cx="73153" cy="640081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8" name="Rectangle 23"/>
          <p:cNvSpPr/>
          <p:nvPr/>
        </p:nvSpPr>
        <p:spPr>
          <a:xfrm>
            <a:off x="6382511" y="1746504"/>
            <a:ext cx="5321810" cy="640081"/>
          </a:xfrm>
          <a:prstGeom prst="rect">
            <a:avLst/>
          </a:prstGeom>
          <a:solidFill>
            <a:srgbClr val="1628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TextBox 24"/>
          <p:cNvSpPr txBox="1"/>
          <p:nvPr/>
        </p:nvSpPr>
        <p:spPr>
          <a:xfrm>
            <a:off x="6519671" y="1813245"/>
            <a:ext cx="5029201" cy="50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Protein embeddings contribute more than drug structure embeddings</a:t>
            </a:r>
          </a:p>
        </p:txBody>
      </p:sp>
      <p:sp>
        <p:nvSpPr>
          <p:cNvPr id="410" name="Rectangle 25"/>
          <p:cNvSpPr/>
          <p:nvPr/>
        </p:nvSpPr>
        <p:spPr>
          <a:xfrm>
            <a:off x="6309359" y="2532888"/>
            <a:ext cx="73153" cy="640081"/>
          </a:xfrm>
          <a:prstGeom prst="rect">
            <a:avLst/>
          </a:prstGeom>
          <a:solidFill>
            <a:srgbClr val="5AB8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Rectangle 26"/>
          <p:cNvSpPr/>
          <p:nvPr/>
        </p:nvSpPr>
        <p:spPr>
          <a:xfrm>
            <a:off x="6382511" y="2532888"/>
            <a:ext cx="5321810" cy="640081"/>
          </a:xfrm>
          <a:prstGeom prst="rect">
            <a:avLst/>
          </a:prstGeom>
          <a:solidFill>
            <a:srgbClr val="1630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2" name="TextBox 27"/>
          <p:cNvSpPr txBox="1"/>
          <p:nvPr/>
        </p:nvSpPr>
        <p:spPr>
          <a:xfrm>
            <a:off x="6519671" y="2599629"/>
            <a:ext cx="5029201" cy="50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Combining both feature types achieves the best prediction performance</a:t>
            </a:r>
          </a:p>
        </p:txBody>
      </p:sp>
      <p:sp>
        <p:nvSpPr>
          <p:cNvPr id="413" name="TextBox 28"/>
          <p:cNvSpPr txBox="1"/>
          <p:nvPr/>
        </p:nvSpPr>
        <p:spPr>
          <a:xfrm>
            <a:off x="6355079" y="3474720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TAKEAWAY</a:t>
            </a:r>
          </a:p>
        </p:txBody>
      </p:sp>
      <p:sp>
        <p:nvSpPr>
          <p:cNvPr id="414" name="Rectangle 29"/>
          <p:cNvSpPr/>
          <p:nvPr/>
        </p:nvSpPr>
        <p:spPr>
          <a:xfrm>
            <a:off x="6309359" y="3785615"/>
            <a:ext cx="73153" cy="640081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Rectangle 30"/>
          <p:cNvSpPr/>
          <p:nvPr/>
        </p:nvSpPr>
        <p:spPr>
          <a:xfrm>
            <a:off x="6382511" y="3785615"/>
            <a:ext cx="5321810" cy="640081"/>
          </a:xfrm>
          <a:prstGeom prst="rect">
            <a:avLst/>
          </a:prstGeom>
          <a:solidFill>
            <a:srgbClr val="3822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6" name="TextBox 31"/>
          <p:cNvSpPr txBox="1"/>
          <p:nvPr/>
        </p:nvSpPr>
        <p:spPr>
          <a:xfrm>
            <a:off x="6519671" y="3852357"/>
            <a:ext cx="502920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Biologically meaningful node features can significantly improve drug–disease prediction performance.</a:t>
            </a:r>
          </a:p>
        </p:txBody>
      </p:sp>
      <p:sp>
        <p:nvSpPr>
          <p:cNvPr id="417" name="Rectangle 32"/>
          <p:cNvSpPr/>
          <p:nvPr/>
        </p:nvSpPr>
        <p:spPr>
          <a:xfrm>
            <a:off x="5989320" y="1325880"/>
            <a:ext cx="12701" cy="530352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07a</a:t>
            </a:r>
          </a:p>
        </p:txBody>
      </p:sp>
      <p:sp>
        <p:nvSpPr>
          <p:cNvPr id="424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DT-DHG: Dynamic Heterogeneous Graph for DTI</a:t>
            </a:r>
          </a:p>
        </p:txBody>
      </p:sp>
      <p:sp>
        <p:nvSpPr>
          <p:cNvPr id="425" name="Rectangle 5"/>
          <p:cNvSpPr/>
          <p:nvPr/>
        </p:nvSpPr>
        <p:spPr>
          <a:xfrm>
            <a:off x="10287000" y="425195"/>
            <a:ext cx="162763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TextBox 6"/>
          <p:cNvSpPr txBox="1"/>
          <p:nvPr/>
        </p:nvSpPr>
        <p:spPr>
          <a:xfrm>
            <a:off x="10675155" y="502964"/>
            <a:ext cx="851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Xu et al., 2024</a:t>
            </a:r>
          </a:p>
        </p:txBody>
      </p:sp>
      <p:sp>
        <p:nvSpPr>
          <p:cNvPr id="427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TASK</a:t>
            </a:r>
          </a:p>
        </p:txBody>
      </p:sp>
      <p:sp>
        <p:nvSpPr>
          <p:cNvPr id="429" name="TextBox 9"/>
          <p:cNvSpPr txBox="1"/>
          <p:nvPr/>
        </p:nvSpPr>
        <p:spPr>
          <a:xfrm>
            <a:off x="411479" y="1746504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Drug-Target interaction prediction — which drugs bind to which protein targets?</a:t>
            </a:r>
          </a:p>
        </p:txBody>
      </p:sp>
      <p:sp>
        <p:nvSpPr>
          <p:cNvPr id="430" name="TextBox 10"/>
          <p:cNvSpPr txBox="1"/>
          <p:nvPr/>
        </p:nvSpPr>
        <p:spPr>
          <a:xfrm>
            <a:off x="411479" y="2322576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FOUR MODELS EVALUATED</a:t>
            </a:r>
          </a:p>
        </p:txBody>
      </p:sp>
      <p:sp>
        <p:nvSpPr>
          <p:cNvPr id="431" name="TextBox 11"/>
          <p:cNvSpPr txBox="1"/>
          <p:nvPr/>
        </p:nvSpPr>
        <p:spPr>
          <a:xfrm>
            <a:off x="411479" y="2633472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0EBE0"/>
                </a:solidFill>
              </a:defRPr>
            </a:lvl1pPr>
          </a:lstStyle>
          <a:p>
            <a:pPr/>
            <a:r>
              <a:t>GCN  ·  GraphSAGE  ·  GAT  ·  GATv2</a:t>
            </a:r>
          </a:p>
        </p:txBody>
      </p:sp>
      <p:sp>
        <p:nvSpPr>
          <p:cNvPr id="432" name="TextBox 12"/>
          <p:cNvSpPr txBox="1"/>
          <p:nvPr/>
        </p:nvSpPr>
        <p:spPr>
          <a:xfrm>
            <a:off x="411479" y="3209544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THREE EDGE TYPES</a:t>
            </a:r>
          </a:p>
        </p:txBody>
      </p:sp>
      <p:sp>
        <p:nvSpPr>
          <p:cNvPr id="433" name="Rectangle 13"/>
          <p:cNvSpPr/>
          <p:nvPr/>
        </p:nvSpPr>
        <p:spPr>
          <a:xfrm>
            <a:off x="365759" y="3520438"/>
            <a:ext cx="11430001" cy="694946"/>
          </a:xfrm>
          <a:prstGeom prst="rect">
            <a:avLst/>
          </a:prstGeom>
          <a:solidFill>
            <a:srgbClr val="242019"/>
          </a:solidFill>
          <a:ln w="1270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TextBox 14"/>
          <p:cNvSpPr txBox="1"/>
          <p:nvPr/>
        </p:nvSpPr>
        <p:spPr>
          <a:xfrm>
            <a:off x="521207" y="3602735"/>
            <a:ext cx="111099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DRUG — PROTEIN EDGES</a:t>
            </a:r>
          </a:p>
        </p:txBody>
      </p:sp>
      <p:sp>
        <p:nvSpPr>
          <p:cNvPr id="435" name="TextBox 15"/>
          <p:cNvSpPr txBox="1"/>
          <p:nvPr/>
        </p:nvSpPr>
        <p:spPr>
          <a:xfrm>
            <a:off x="521207" y="3867910"/>
            <a:ext cx="11109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Known interactions from databases — DrugBank, KEGG, SuperTarget</a:t>
            </a:r>
          </a:p>
        </p:txBody>
      </p:sp>
      <p:sp>
        <p:nvSpPr>
          <p:cNvPr id="436" name="Rectangle 16"/>
          <p:cNvSpPr/>
          <p:nvPr/>
        </p:nvSpPr>
        <p:spPr>
          <a:xfrm>
            <a:off x="365759" y="4361688"/>
            <a:ext cx="11430001" cy="694945"/>
          </a:xfrm>
          <a:prstGeom prst="rect">
            <a:avLst/>
          </a:prstGeom>
          <a:solidFill>
            <a:srgbClr val="242019"/>
          </a:solidFill>
          <a:ln w="1270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7" name="TextBox 17"/>
          <p:cNvSpPr txBox="1"/>
          <p:nvPr/>
        </p:nvSpPr>
        <p:spPr>
          <a:xfrm>
            <a:off x="521207" y="4443983"/>
            <a:ext cx="111099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DRUG — DRUG EDGES</a:t>
            </a:r>
          </a:p>
        </p:txBody>
      </p:sp>
      <p:sp>
        <p:nvSpPr>
          <p:cNvPr id="438" name="TextBox 18"/>
          <p:cNvSpPr txBox="1"/>
          <p:nvPr/>
        </p:nvSpPr>
        <p:spPr>
          <a:xfrm>
            <a:off x="521207" y="4709159"/>
            <a:ext cx="11109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Chemical structure similarity between drug pairs</a:t>
            </a:r>
          </a:p>
        </p:txBody>
      </p:sp>
      <p:sp>
        <p:nvSpPr>
          <p:cNvPr id="439" name="Rectangle 19"/>
          <p:cNvSpPr/>
          <p:nvPr/>
        </p:nvSpPr>
        <p:spPr>
          <a:xfrm>
            <a:off x="365759" y="5202935"/>
            <a:ext cx="11430001" cy="694945"/>
          </a:xfrm>
          <a:prstGeom prst="rect">
            <a:avLst/>
          </a:prstGeom>
          <a:solidFill>
            <a:srgbClr val="242019"/>
          </a:solidFill>
          <a:ln w="1270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TextBox 20"/>
          <p:cNvSpPr txBox="1"/>
          <p:nvPr/>
        </p:nvSpPr>
        <p:spPr>
          <a:xfrm>
            <a:off x="521207" y="5285230"/>
            <a:ext cx="11109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PROTEIN — PROTEIN EDGES</a:t>
            </a:r>
          </a:p>
        </p:txBody>
      </p:sp>
      <p:sp>
        <p:nvSpPr>
          <p:cNvPr id="441" name="TextBox 21"/>
          <p:cNvSpPr txBox="1"/>
          <p:nvPr/>
        </p:nvSpPr>
        <p:spPr>
          <a:xfrm>
            <a:off x="521207" y="5550406"/>
            <a:ext cx="11109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Sequence similarity between protein pairs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07b</a:t>
            </a:r>
          </a:p>
        </p:txBody>
      </p:sp>
      <p:sp>
        <p:nvSpPr>
          <p:cNvPr id="448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DT-DHG: Solution &amp; Results</a:t>
            </a:r>
          </a:p>
        </p:txBody>
      </p:sp>
      <p:sp>
        <p:nvSpPr>
          <p:cNvPr id="449" name="Rectangle 5"/>
          <p:cNvSpPr/>
          <p:nvPr/>
        </p:nvSpPr>
        <p:spPr>
          <a:xfrm>
            <a:off x="10287000" y="425195"/>
            <a:ext cx="162763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TextBox 6"/>
          <p:cNvSpPr txBox="1"/>
          <p:nvPr/>
        </p:nvSpPr>
        <p:spPr>
          <a:xfrm>
            <a:off x="10675155" y="502964"/>
            <a:ext cx="851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Xu et al., 2024</a:t>
            </a:r>
          </a:p>
        </p:txBody>
      </p:sp>
      <p:sp>
        <p:nvSpPr>
          <p:cNvPr id="451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2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INNOVATION 1 — DYNAMIC GRAPH VIA PROBABILISTIC SAMPLING</a:t>
            </a:r>
          </a:p>
        </p:txBody>
      </p:sp>
      <p:sp>
        <p:nvSpPr>
          <p:cNvPr id="453" name="Rectangle 9"/>
          <p:cNvSpPr/>
          <p:nvPr/>
        </p:nvSpPr>
        <p:spPr>
          <a:xfrm>
            <a:off x="365759" y="1746504"/>
            <a:ext cx="73153" cy="640081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Rectangle 10"/>
          <p:cNvSpPr/>
          <p:nvPr/>
        </p:nvSpPr>
        <p:spPr>
          <a:xfrm>
            <a:off x="438911" y="1746504"/>
            <a:ext cx="5321810" cy="640081"/>
          </a:xfrm>
          <a:prstGeom prst="rect">
            <a:avLst/>
          </a:prstGeom>
          <a:solidFill>
            <a:srgbClr val="3822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5" name="TextBox 11"/>
          <p:cNvSpPr txBox="1"/>
          <p:nvPr/>
        </p:nvSpPr>
        <p:spPr>
          <a:xfrm>
            <a:off x="576071" y="1813245"/>
            <a:ext cx="5029201" cy="50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Instead of a fixed threshold — similarity scores become edge probabilities, sampled each epoch</a:t>
            </a:r>
          </a:p>
        </p:txBody>
      </p:sp>
      <p:sp>
        <p:nvSpPr>
          <p:cNvPr id="456" name="TextBox 12"/>
          <p:cNvSpPr txBox="1"/>
          <p:nvPr/>
        </p:nvSpPr>
        <p:spPr>
          <a:xfrm>
            <a:off x="411479" y="2532888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Graph changes every iteration → acts as built-in data augmentation</a:t>
            </a:r>
          </a:p>
        </p:txBody>
      </p:sp>
      <p:sp>
        <p:nvSpPr>
          <p:cNvPr id="457" name="TextBox 13"/>
          <p:cNvSpPr txBox="1"/>
          <p:nvPr/>
        </p:nvSpPr>
        <p:spPr>
          <a:xfrm>
            <a:off x="411479" y="3474720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INNOVATION 2 — PROGRESSIVE LEARNING ACROSS LAYERS</a:t>
            </a:r>
          </a:p>
        </p:txBody>
      </p:sp>
      <p:sp>
        <p:nvSpPr>
          <p:cNvPr id="458" name="Rectangle 14"/>
          <p:cNvSpPr/>
          <p:nvPr/>
        </p:nvSpPr>
        <p:spPr>
          <a:xfrm>
            <a:off x="365759" y="3785615"/>
            <a:ext cx="73153" cy="640081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9" name="Rectangle 15"/>
          <p:cNvSpPr/>
          <p:nvPr/>
        </p:nvSpPr>
        <p:spPr>
          <a:xfrm>
            <a:off x="438911" y="3785615"/>
            <a:ext cx="5321810" cy="640081"/>
          </a:xfrm>
          <a:prstGeom prst="rect">
            <a:avLst/>
          </a:prstGeom>
          <a:solidFill>
            <a:srgbClr val="1628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TextBox 16"/>
          <p:cNvSpPr txBox="1"/>
          <p:nvPr/>
        </p:nvSpPr>
        <p:spPr>
          <a:xfrm>
            <a:off x="576071" y="3852357"/>
            <a:ext cx="502920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Early layers: only high-confidence edges. Deeper layers: gradually include lower-similarity connections</a:t>
            </a:r>
          </a:p>
        </p:txBody>
      </p:sp>
      <p:sp>
        <p:nvSpPr>
          <p:cNvPr id="461" name="TextBox 17"/>
          <p:cNvSpPr txBox="1"/>
          <p:nvPr/>
        </p:nvSpPr>
        <p:spPr>
          <a:xfrm>
            <a:off x="411479" y="4572000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Builds from reliable relationships first, then adds broader context</a:t>
            </a:r>
          </a:p>
        </p:txBody>
      </p:sp>
      <p:sp>
        <p:nvSpPr>
          <p:cNvPr id="462" name="Rectangle 18"/>
          <p:cNvSpPr/>
          <p:nvPr/>
        </p:nvSpPr>
        <p:spPr>
          <a:xfrm rot="21257364">
            <a:off x="6761998" y="2084832"/>
            <a:ext cx="1837922" cy="36577"/>
          </a:xfrm>
          <a:prstGeom prst="rect">
            <a:avLst/>
          </a:prstGeom>
          <a:solidFill>
            <a:srgbClr val="5AB8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3" name="TextBox 19"/>
          <p:cNvSpPr txBox="1"/>
          <p:nvPr/>
        </p:nvSpPr>
        <p:spPr>
          <a:xfrm>
            <a:off x="7352534" y="1947672"/>
            <a:ext cx="65685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000">
                <a:solidFill>
                  <a:srgbClr val="F0EBE0"/>
                </a:solidFill>
              </a:defRPr>
            </a:lvl1pPr>
          </a:lstStyle>
          <a:p>
            <a:pPr/>
            <a:r>
              <a:t>0.9 → 90%</a:t>
            </a:r>
          </a:p>
        </p:txBody>
      </p:sp>
      <p:sp>
        <p:nvSpPr>
          <p:cNvPr id="464" name="Rectangle 20"/>
          <p:cNvSpPr/>
          <p:nvPr/>
        </p:nvSpPr>
        <p:spPr>
          <a:xfrm rot="342636">
            <a:off x="8590798" y="2084832"/>
            <a:ext cx="1837922" cy="36577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5" name="TextBox 21"/>
          <p:cNvSpPr txBox="1"/>
          <p:nvPr/>
        </p:nvSpPr>
        <p:spPr>
          <a:xfrm>
            <a:off x="9181334" y="1947672"/>
            <a:ext cx="65685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000">
                <a:solidFill>
                  <a:srgbClr val="F0EBE0"/>
                </a:solidFill>
              </a:defRPr>
            </a:lvl1pPr>
          </a:lstStyle>
          <a:p>
            <a:pPr/>
            <a:r>
              <a:t>0.6 → 60%</a:t>
            </a:r>
          </a:p>
        </p:txBody>
      </p:sp>
      <p:sp>
        <p:nvSpPr>
          <p:cNvPr id="466" name="Rectangle 22"/>
          <p:cNvSpPr/>
          <p:nvPr/>
        </p:nvSpPr>
        <p:spPr>
          <a:xfrm>
            <a:off x="7680959" y="3547871"/>
            <a:ext cx="1828801" cy="36577"/>
          </a:xfrm>
          <a:prstGeom prst="rect">
            <a:avLst/>
          </a:prstGeom>
          <a:solidFill>
            <a:srgbClr val="E060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7" name="TextBox 23"/>
          <p:cNvSpPr txBox="1"/>
          <p:nvPr/>
        </p:nvSpPr>
        <p:spPr>
          <a:xfrm>
            <a:off x="8266934" y="3410711"/>
            <a:ext cx="65685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000">
                <a:solidFill>
                  <a:srgbClr val="F0EBE0"/>
                </a:solidFill>
              </a:defRPr>
            </a:lvl1pPr>
          </a:lstStyle>
          <a:p>
            <a:pPr/>
            <a:r>
              <a:t>0.2 → 20%</a:t>
            </a:r>
          </a:p>
        </p:txBody>
      </p:sp>
      <p:sp>
        <p:nvSpPr>
          <p:cNvPr id="468" name="Rectangle 24"/>
          <p:cNvSpPr/>
          <p:nvPr/>
        </p:nvSpPr>
        <p:spPr>
          <a:xfrm rot="3378596">
            <a:off x="6399530" y="2862071"/>
            <a:ext cx="1648458" cy="36577"/>
          </a:xfrm>
          <a:prstGeom prst="rect">
            <a:avLst/>
          </a:prstGeom>
          <a:solidFill>
            <a:srgbClr val="5AB8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9" name="TextBox 25"/>
          <p:cNvSpPr txBox="1"/>
          <p:nvPr/>
        </p:nvSpPr>
        <p:spPr>
          <a:xfrm>
            <a:off x="6895334" y="2724911"/>
            <a:ext cx="65685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000">
                <a:solidFill>
                  <a:srgbClr val="F0EBE0"/>
                </a:solidFill>
              </a:defRPr>
            </a:lvl1pPr>
          </a:lstStyle>
          <a:p>
            <a:pPr/>
            <a:r>
              <a:t>0.8 → 80%</a:t>
            </a:r>
          </a:p>
        </p:txBody>
      </p:sp>
      <p:sp>
        <p:nvSpPr>
          <p:cNvPr id="470" name="Rectangle 26"/>
          <p:cNvSpPr/>
          <p:nvPr/>
        </p:nvSpPr>
        <p:spPr>
          <a:xfrm rot="7421404">
            <a:off x="9142731" y="2862071"/>
            <a:ext cx="1648458" cy="36577"/>
          </a:xfrm>
          <a:prstGeom prst="rect">
            <a:avLst/>
          </a:prstGeom>
          <a:solidFill>
            <a:srgbClr val="E060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TextBox 27"/>
          <p:cNvSpPr txBox="1"/>
          <p:nvPr/>
        </p:nvSpPr>
        <p:spPr>
          <a:xfrm>
            <a:off x="9638534" y="2724911"/>
            <a:ext cx="65685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i="1" sz="1000">
                <a:solidFill>
                  <a:srgbClr val="F0EBE0"/>
                </a:solidFill>
              </a:defRPr>
            </a:lvl1pPr>
          </a:lstStyle>
          <a:p>
            <a:pPr/>
            <a:r>
              <a:t>0.3 → 30%</a:t>
            </a:r>
          </a:p>
        </p:txBody>
      </p:sp>
      <p:sp>
        <p:nvSpPr>
          <p:cNvPr id="472" name="Oval 28"/>
          <p:cNvSpPr/>
          <p:nvPr/>
        </p:nvSpPr>
        <p:spPr>
          <a:xfrm>
            <a:off x="6510528" y="1938527"/>
            <a:ext cx="512065" cy="512065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3" name="TextBox 29"/>
          <p:cNvSpPr txBox="1"/>
          <p:nvPr/>
        </p:nvSpPr>
        <p:spPr>
          <a:xfrm>
            <a:off x="6503823" y="2487167"/>
            <a:ext cx="52547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D8D0C0"/>
                </a:solidFill>
              </a:defRPr>
            </a:lvl1pPr>
          </a:lstStyle>
          <a:p>
            <a:pPr/>
            <a:r>
              <a:t>Drug A</a:t>
            </a:r>
          </a:p>
        </p:txBody>
      </p:sp>
      <p:sp>
        <p:nvSpPr>
          <p:cNvPr id="474" name="Oval 30"/>
          <p:cNvSpPr/>
          <p:nvPr/>
        </p:nvSpPr>
        <p:spPr>
          <a:xfrm>
            <a:off x="8339328" y="1755648"/>
            <a:ext cx="512065" cy="512065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TextBox 31"/>
          <p:cNvSpPr txBox="1"/>
          <p:nvPr/>
        </p:nvSpPr>
        <p:spPr>
          <a:xfrm>
            <a:off x="8335265" y="2304288"/>
            <a:ext cx="52019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D8D0C0"/>
                </a:solidFill>
              </a:defRPr>
            </a:lvl1pPr>
          </a:lstStyle>
          <a:p>
            <a:pPr/>
            <a:r>
              <a:t>Drug B</a:t>
            </a:r>
          </a:p>
        </p:txBody>
      </p:sp>
      <p:sp>
        <p:nvSpPr>
          <p:cNvPr id="476" name="Oval 32"/>
          <p:cNvSpPr/>
          <p:nvPr/>
        </p:nvSpPr>
        <p:spPr>
          <a:xfrm>
            <a:off x="10168128" y="1938527"/>
            <a:ext cx="512065" cy="512065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7" name="TextBox 33"/>
          <p:cNvSpPr txBox="1"/>
          <p:nvPr/>
        </p:nvSpPr>
        <p:spPr>
          <a:xfrm>
            <a:off x="10164883" y="2487167"/>
            <a:ext cx="51855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D8D0C0"/>
                </a:solidFill>
              </a:defRPr>
            </a:lvl1pPr>
          </a:lstStyle>
          <a:p>
            <a:pPr/>
            <a:r>
              <a:t>Drug C</a:t>
            </a:r>
          </a:p>
        </p:txBody>
      </p:sp>
      <p:sp>
        <p:nvSpPr>
          <p:cNvPr id="478" name="Oval 34"/>
          <p:cNvSpPr/>
          <p:nvPr/>
        </p:nvSpPr>
        <p:spPr>
          <a:xfrm>
            <a:off x="7424928" y="3310128"/>
            <a:ext cx="512065" cy="512065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9" name="TextBox 35"/>
          <p:cNvSpPr txBox="1"/>
          <p:nvPr/>
        </p:nvSpPr>
        <p:spPr>
          <a:xfrm>
            <a:off x="7415433" y="3858767"/>
            <a:ext cx="53105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D8D0C0"/>
                </a:solidFill>
              </a:defRPr>
            </a:lvl1pPr>
          </a:lstStyle>
          <a:p>
            <a:pPr/>
            <a:r>
              <a:t>Drug D</a:t>
            </a:r>
          </a:p>
        </p:txBody>
      </p:sp>
      <p:sp>
        <p:nvSpPr>
          <p:cNvPr id="480" name="Oval 36"/>
          <p:cNvSpPr/>
          <p:nvPr/>
        </p:nvSpPr>
        <p:spPr>
          <a:xfrm>
            <a:off x="9253728" y="3310128"/>
            <a:ext cx="512065" cy="512065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1" name="TextBox 37"/>
          <p:cNvSpPr txBox="1"/>
          <p:nvPr/>
        </p:nvSpPr>
        <p:spPr>
          <a:xfrm>
            <a:off x="9253906" y="3858767"/>
            <a:ext cx="511707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D8D0C0"/>
                </a:solidFill>
              </a:defRPr>
            </a:lvl1pPr>
          </a:lstStyle>
          <a:p>
            <a:pPr/>
            <a:r>
              <a:t>Drug E</a:t>
            </a:r>
          </a:p>
        </p:txBody>
      </p:sp>
      <p:sp>
        <p:nvSpPr>
          <p:cNvPr id="482" name="Rectangle 38"/>
          <p:cNvSpPr/>
          <p:nvPr/>
        </p:nvSpPr>
        <p:spPr>
          <a:xfrm>
            <a:off x="6309359" y="4462271"/>
            <a:ext cx="365761" cy="36577"/>
          </a:xfrm>
          <a:prstGeom prst="rect">
            <a:avLst/>
          </a:prstGeom>
          <a:solidFill>
            <a:srgbClr val="5AB8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3" name="TextBox 39"/>
          <p:cNvSpPr txBox="1"/>
          <p:nvPr/>
        </p:nvSpPr>
        <p:spPr>
          <a:xfrm>
            <a:off x="6812279" y="4370832"/>
            <a:ext cx="44805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9A9080"/>
                </a:solidFill>
              </a:defRPr>
            </a:lvl1pPr>
          </a:lstStyle>
          <a:p>
            <a:pPr/>
            <a:r>
              <a:t>High similarity — appears most epochs</a:t>
            </a:r>
          </a:p>
        </p:txBody>
      </p:sp>
      <p:sp>
        <p:nvSpPr>
          <p:cNvPr id="484" name="Rectangle 40"/>
          <p:cNvSpPr/>
          <p:nvPr/>
        </p:nvSpPr>
        <p:spPr>
          <a:xfrm>
            <a:off x="6309359" y="4736591"/>
            <a:ext cx="365761" cy="36577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5" name="TextBox 41"/>
          <p:cNvSpPr txBox="1"/>
          <p:nvPr/>
        </p:nvSpPr>
        <p:spPr>
          <a:xfrm>
            <a:off x="6812279" y="4645152"/>
            <a:ext cx="44805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9A9080"/>
                </a:solidFill>
              </a:defRPr>
            </a:lvl1pPr>
          </a:lstStyle>
          <a:p>
            <a:pPr/>
            <a:r>
              <a:t>Medium similarity — appears sometimes</a:t>
            </a:r>
          </a:p>
        </p:txBody>
      </p:sp>
      <p:sp>
        <p:nvSpPr>
          <p:cNvPr id="486" name="Rectangle 42"/>
          <p:cNvSpPr/>
          <p:nvPr/>
        </p:nvSpPr>
        <p:spPr>
          <a:xfrm>
            <a:off x="6309359" y="5010911"/>
            <a:ext cx="365761" cy="36577"/>
          </a:xfrm>
          <a:prstGeom prst="rect">
            <a:avLst/>
          </a:prstGeom>
          <a:solidFill>
            <a:srgbClr val="E0606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7" name="TextBox 43"/>
          <p:cNvSpPr txBox="1"/>
          <p:nvPr/>
        </p:nvSpPr>
        <p:spPr>
          <a:xfrm>
            <a:off x="6812279" y="4919471"/>
            <a:ext cx="4480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9A9080"/>
                </a:solidFill>
              </a:defRPr>
            </a:lvl1pPr>
          </a:lstStyle>
          <a:p>
            <a:pPr/>
            <a:r>
              <a:t>Low similarity — appears rarely</a:t>
            </a:r>
          </a:p>
        </p:txBody>
      </p:sp>
      <p:sp>
        <p:nvSpPr>
          <p:cNvPr id="488" name="Rectangle 44"/>
          <p:cNvSpPr/>
          <p:nvPr/>
        </p:nvSpPr>
        <p:spPr>
          <a:xfrm>
            <a:off x="5989320" y="1325880"/>
            <a:ext cx="12701" cy="530352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3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4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07c</a:t>
            </a:r>
          </a:p>
        </p:txBody>
      </p:sp>
      <p:sp>
        <p:nvSpPr>
          <p:cNvPr id="495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DT-DHG: Solution &amp; Results</a:t>
            </a:r>
          </a:p>
        </p:txBody>
      </p:sp>
      <p:sp>
        <p:nvSpPr>
          <p:cNvPr id="496" name="Rectangle 5"/>
          <p:cNvSpPr/>
          <p:nvPr/>
        </p:nvSpPr>
        <p:spPr>
          <a:xfrm>
            <a:off x="10287000" y="425195"/>
            <a:ext cx="162763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TextBox 6"/>
          <p:cNvSpPr txBox="1"/>
          <p:nvPr/>
        </p:nvSpPr>
        <p:spPr>
          <a:xfrm>
            <a:off x="10675155" y="502964"/>
            <a:ext cx="851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Xu et al., 2024</a:t>
            </a:r>
          </a:p>
        </p:txBody>
      </p:sp>
      <p:sp>
        <p:nvSpPr>
          <p:cNvPr id="498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9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INNOVATION 1 — DYNAMIC GRAPH VIA PROBABILISTIC SAMPLING</a:t>
            </a:r>
          </a:p>
        </p:txBody>
      </p:sp>
      <p:sp>
        <p:nvSpPr>
          <p:cNvPr id="500" name="Rectangle 9"/>
          <p:cNvSpPr/>
          <p:nvPr/>
        </p:nvSpPr>
        <p:spPr>
          <a:xfrm>
            <a:off x="365759" y="1746504"/>
            <a:ext cx="73153" cy="640081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1" name="Rectangle 10"/>
          <p:cNvSpPr/>
          <p:nvPr/>
        </p:nvSpPr>
        <p:spPr>
          <a:xfrm>
            <a:off x="438911" y="1746504"/>
            <a:ext cx="5321810" cy="640081"/>
          </a:xfrm>
          <a:prstGeom prst="rect">
            <a:avLst/>
          </a:prstGeom>
          <a:solidFill>
            <a:srgbClr val="3822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TextBox 11"/>
          <p:cNvSpPr txBox="1"/>
          <p:nvPr/>
        </p:nvSpPr>
        <p:spPr>
          <a:xfrm>
            <a:off x="576071" y="1813245"/>
            <a:ext cx="5029201" cy="50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Instead of a fixed threshold — similarity scores become edge probabilities, sampled each epoch</a:t>
            </a:r>
          </a:p>
        </p:txBody>
      </p:sp>
      <p:sp>
        <p:nvSpPr>
          <p:cNvPr id="503" name="TextBox 12"/>
          <p:cNvSpPr txBox="1"/>
          <p:nvPr/>
        </p:nvSpPr>
        <p:spPr>
          <a:xfrm>
            <a:off x="411479" y="2532888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Graph changes every iteration → acts as built-in data augmentation</a:t>
            </a:r>
          </a:p>
        </p:txBody>
      </p:sp>
      <p:sp>
        <p:nvSpPr>
          <p:cNvPr id="504" name="TextBox 13"/>
          <p:cNvSpPr txBox="1"/>
          <p:nvPr/>
        </p:nvSpPr>
        <p:spPr>
          <a:xfrm>
            <a:off x="411479" y="3474720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INNOVATION 2 — PROGRESSIVE LEARNING ACROSS LAYERS</a:t>
            </a:r>
          </a:p>
        </p:txBody>
      </p:sp>
      <p:sp>
        <p:nvSpPr>
          <p:cNvPr id="505" name="Rectangle 14"/>
          <p:cNvSpPr/>
          <p:nvPr/>
        </p:nvSpPr>
        <p:spPr>
          <a:xfrm>
            <a:off x="365759" y="3785615"/>
            <a:ext cx="73153" cy="640081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6" name="Rectangle 15"/>
          <p:cNvSpPr/>
          <p:nvPr/>
        </p:nvSpPr>
        <p:spPr>
          <a:xfrm>
            <a:off x="438911" y="3785615"/>
            <a:ext cx="5321810" cy="640081"/>
          </a:xfrm>
          <a:prstGeom prst="rect">
            <a:avLst/>
          </a:prstGeom>
          <a:solidFill>
            <a:srgbClr val="1628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7" name="TextBox 16"/>
          <p:cNvSpPr txBox="1"/>
          <p:nvPr/>
        </p:nvSpPr>
        <p:spPr>
          <a:xfrm>
            <a:off x="576071" y="3852357"/>
            <a:ext cx="502920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Early layers: only high-confidence edges. Deeper layers: gradually include lower-similarity connections</a:t>
            </a:r>
          </a:p>
        </p:txBody>
      </p:sp>
      <p:sp>
        <p:nvSpPr>
          <p:cNvPr id="508" name="TextBox 17"/>
          <p:cNvSpPr txBox="1"/>
          <p:nvPr/>
        </p:nvSpPr>
        <p:spPr>
          <a:xfrm>
            <a:off x="411479" y="4572000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Builds from reliable relationships first, then adds broader context</a:t>
            </a:r>
          </a:p>
        </p:txBody>
      </p:sp>
      <p:sp>
        <p:nvSpPr>
          <p:cNvPr id="509" name="TextBox 18"/>
          <p:cNvSpPr txBox="1"/>
          <p:nvPr/>
        </p:nvSpPr>
        <p:spPr>
          <a:xfrm>
            <a:off x="63550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THREE MODES COMPARED</a:t>
            </a:r>
          </a:p>
        </p:txBody>
      </p:sp>
      <p:sp>
        <p:nvSpPr>
          <p:cNvPr id="510" name="Rectangle 19"/>
          <p:cNvSpPr/>
          <p:nvPr/>
        </p:nvSpPr>
        <p:spPr>
          <a:xfrm>
            <a:off x="6309359" y="1746504"/>
            <a:ext cx="2606041" cy="694945"/>
          </a:xfrm>
          <a:prstGeom prst="rect">
            <a:avLst/>
          </a:prstGeom>
          <a:solidFill>
            <a:srgbClr val="242019"/>
          </a:solidFill>
          <a:ln w="12700">
            <a:solidFill>
              <a:srgbClr val="3A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1" name="TextBox 20"/>
          <p:cNvSpPr txBox="1"/>
          <p:nvPr/>
        </p:nvSpPr>
        <p:spPr>
          <a:xfrm>
            <a:off x="6464808" y="1828800"/>
            <a:ext cx="22860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MODE-O</a:t>
            </a:r>
          </a:p>
        </p:txBody>
      </p:sp>
      <p:sp>
        <p:nvSpPr>
          <p:cNvPr id="512" name="TextBox 21"/>
          <p:cNvSpPr txBox="1"/>
          <p:nvPr/>
        </p:nvSpPr>
        <p:spPr>
          <a:xfrm>
            <a:off x="6464808" y="2093976"/>
            <a:ext cx="22860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Fixed threshold</a:t>
            </a:r>
          </a:p>
        </p:txBody>
      </p:sp>
      <p:sp>
        <p:nvSpPr>
          <p:cNvPr id="513" name="Rectangle 22"/>
          <p:cNvSpPr/>
          <p:nvPr/>
        </p:nvSpPr>
        <p:spPr>
          <a:xfrm>
            <a:off x="9098280" y="1746504"/>
            <a:ext cx="2606041" cy="694945"/>
          </a:xfrm>
          <a:prstGeom prst="rect">
            <a:avLst/>
          </a:prstGeom>
          <a:solidFill>
            <a:srgbClr val="242019"/>
          </a:solidFill>
          <a:ln w="1270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4" name="TextBox 23"/>
          <p:cNvSpPr txBox="1"/>
          <p:nvPr/>
        </p:nvSpPr>
        <p:spPr>
          <a:xfrm>
            <a:off x="9253727" y="1828800"/>
            <a:ext cx="22860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MODE-F</a:t>
            </a:r>
          </a:p>
        </p:txBody>
      </p:sp>
      <p:sp>
        <p:nvSpPr>
          <p:cNvPr id="515" name="TextBox 24"/>
          <p:cNvSpPr txBox="1"/>
          <p:nvPr/>
        </p:nvSpPr>
        <p:spPr>
          <a:xfrm>
            <a:off x="9253727" y="2093976"/>
            <a:ext cx="22860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Dynamic graph only</a:t>
            </a:r>
          </a:p>
        </p:txBody>
      </p:sp>
      <p:sp>
        <p:nvSpPr>
          <p:cNvPr id="516" name="Rectangle 25"/>
          <p:cNvSpPr/>
          <p:nvPr/>
        </p:nvSpPr>
        <p:spPr>
          <a:xfrm>
            <a:off x="6309359" y="2587751"/>
            <a:ext cx="5394962" cy="694945"/>
          </a:xfrm>
          <a:prstGeom prst="rect">
            <a:avLst/>
          </a:prstGeom>
          <a:solidFill>
            <a:srgbClr val="242019"/>
          </a:solidFill>
          <a:ln w="1270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7" name="TextBox 26"/>
          <p:cNvSpPr txBox="1"/>
          <p:nvPr/>
        </p:nvSpPr>
        <p:spPr>
          <a:xfrm>
            <a:off x="6464807" y="2670048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MODE-P</a:t>
            </a:r>
          </a:p>
        </p:txBody>
      </p:sp>
      <p:sp>
        <p:nvSpPr>
          <p:cNvPr id="518" name="TextBox 27"/>
          <p:cNvSpPr txBox="1"/>
          <p:nvPr/>
        </p:nvSpPr>
        <p:spPr>
          <a:xfrm>
            <a:off x="6464807" y="2935223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Dynamic graph + progressive learning — best performer</a:t>
            </a:r>
          </a:p>
        </p:txBody>
      </p:sp>
      <p:sp>
        <p:nvSpPr>
          <p:cNvPr id="519" name="TextBox 28"/>
          <p:cNvSpPr txBox="1"/>
          <p:nvPr/>
        </p:nvSpPr>
        <p:spPr>
          <a:xfrm>
            <a:off x="6355079" y="3584447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RESULTS — YAMANISHI ENZYME DATASET</a:t>
            </a:r>
          </a:p>
        </p:txBody>
      </p:sp>
      <p:sp>
        <p:nvSpPr>
          <p:cNvPr id="520" name="TextBox 29"/>
          <p:cNvSpPr txBox="1"/>
          <p:nvPr/>
        </p:nvSpPr>
        <p:spPr>
          <a:xfrm>
            <a:off x="6355079" y="3895344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GCN · GraphSAGE · GAT · GATv2</a:t>
            </a:r>
          </a:p>
        </p:txBody>
      </p:sp>
      <p:sp>
        <p:nvSpPr>
          <p:cNvPr id="521" name="TextBox 30"/>
          <p:cNvSpPr txBox="1"/>
          <p:nvPr/>
        </p:nvSpPr>
        <p:spPr>
          <a:xfrm>
            <a:off x="6355079" y="4407408"/>
            <a:ext cx="53035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D8D0C0"/>
                </a:solidFill>
              </a:defRPr>
            </a:lvl1pPr>
          </a:lstStyle>
          <a:p>
            <a:pPr/>
            <a:r>
              <a:t>Both Mode-F and Mode-P improve all four backbones over fixed graph</a:t>
            </a:r>
          </a:p>
        </p:txBody>
      </p:sp>
      <p:sp>
        <p:nvSpPr>
          <p:cNvPr id="522" name="Rectangle 31"/>
          <p:cNvSpPr/>
          <p:nvPr/>
        </p:nvSpPr>
        <p:spPr>
          <a:xfrm>
            <a:off x="6309359" y="4919471"/>
            <a:ext cx="5394962" cy="777241"/>
          </a:xfrm>
          <a:prstGeom prst="rect">
            <a:avLst/>
          </a:prstGeom>
          <a:solidFill>
            <a:srgbClr val="242019"/>
          </a:solidFill>
          <a:ln w="1905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3" name="TextBox 32"/>
          <p:cNvSpPr txBox="1"/>
          <p:nvPr/>
        </p:nvSpPr>
        <p:spPr>
          <a:xfrm>
            <a:off x="6492240" y="5115404"/>
            <a:ext cx="4115877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100">
                <a:solidFill>
                  <a:srgbClr val="D8D0C0"/>
                </a:solidFill>
              </a:defRPr>
            </a:pPr>
            <a:r>
              <a:t>GATv2 Hits@10:  </a:t>
            </a:r>
            <a:r>
              <a:rPr b="1" sz="2200">
                <a:solidFill>
                  <a:srgbClr val="5AB88A"/>
                </a:solidFill>
              </a:rPr>
              <a:t>+158.92%</a:t>
            </a:r>
            <a:r>
              <a:rPr>
                <a:solidFill>
                  <a:srgbClr val="9A9080"/>
                </a:solidFill>
              </a:rPr>
              <a:t>  Mode-P vs fixed graph (Mode-O)</a:t>
            </a:r>
          </a:p>
        </p:txBody>
      </p:sp>
      <p:sp>
        <p:nvSpPr>
          <p:cNvPr id="524" name="Rectangle 33"/>
          <p:cNvSpPr/>
          <p:nvPr/>
        </p:nvSpPr>
        <p:spPr>
          <a:xfrm>
            <a:off x="5989320" y="1325880"/>
            <a:ext cx="12701" cy="530352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9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0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08a</a:t>
            </a:r>
          </a:p>
        </p:txBody>
      </p:sp>
      <p:sp>
        <p:nvSpPr>
          <p:cNvPr id="531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HSELDA: Subgraph-Based Learning</a:t>
            </a:r>
          </a:p>
        </p:txBody>
      </p:sp>
      <p:sp>
        <p:nvSpPr>
          <p:cNvPr id="532" name="Rectangle 5"/>
          <p:cNvSpPr/>
          <p:nvPr/>
        </p:nvSpPr>
        <p:spPr>
          <a:xfrm>
            <a:off x="10118749" y="425195"/>
            <a:ext cx="179588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3" name="TextBox 6"/>
          <p:cNvSpPr txBox="1"/>
          <p:nvPr/>
        </p:nvSpPr>
        <p:spPr>
          <a:xfrm>
            <a:off x="10526352" y="502964"/>
            <a:ext cx="98067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Zhou et al., 2023</a:t>
            </a:r>
          </a:p>
        </p:txBody>
      </p:sp>
      <p:sp>
        <p:nvSpPr>
          <p:cNvPr id="534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5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TASK</a:t>
            </a:r>
          </a:p>
        </p:txBody>
      </p:sp>
      <p:sp>
        <p:nvSpPr>
          <p:cNvPr id="536" name="TextBox 9"/>
          <p:cNvSpPr txBox="1"/>
          <p:nvPr/>
        </p:nvSpPr>
        <p:spPr>
          <a:xfrm>
            <a:off x="411479" y="1746504"/>
            <a:ext cx="530352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lncRNA-disease association prediction — which long non-coding RNAs are linked to which diseases?</a:t>
            </a:r>
          </a:p>
        </p:txBody>
      </p:sp>
      <p:sp>
        <p:nvSpPr>
          <p:cNvPr id="537" name="TextBox 10"/>
          <p:cNvSpPr txBox="1"/>
          <p:nvPr/>
        </p:nvSpPr>
        <p:spPr>
          <a:xfrm>
            <a:off x="411479" y="2414016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THE GRAPH — THREE NODE TYPES</a:t>
            </a:r>
          </a:p>
        </p:txBody>
      </p:sp>
      <p:sp>
        <p:nvSpPr>
          <p:cNvPr id="538" name="TextBox 11"/>
          <p:cNvSpPr txBox="1"/>
          <p:nvPr/>
        </p:nvSpPr>
        <p:spPr>
          <a:xfrm>
            <a:off x="411479" y="2724911"/>
            <a:ext cx="1133856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0EBE0"/>
                </a:solidFill>
              </a:defRPr>
            </a:lvl1pPr>
          </a:lstStyle>
          <a:p>
            <a:pPr/>
            <a:r>
              <a:t>lncRNA  ·  miRNA  ·  Disease</a:t>
            </a:r>
          </a:p>
        </p:txBody>
      </p:sp>
      <p:sp>
        <p:nvSpPr>
          <p:cNvPr id="539" name="TextBox 12"/>
          <p:cNvSpPr txBox="1"/>
          <p:nvPr/>
        </p:nvSpPr>
        <p:spPr>
          <a:xfrm>
            <a:off x="411479" y="3300984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HSELDA'S APPROACH</a:t>
            </a:r>
          </a:p>
        </p:txBody>
      </p:sp>
      <p:sp>
        <p:nvSpPr>
          <p:cNvPr id="540" name="Rectangle 13"/>
          <p:cNvSpPr/>
          <p:nvPr/>
        </p:nvSpPr>
        <p:spPr>
          <a:xfrm>
            <a:off x="365759" y="3611879"/>
            <a:ext cx="73153" cy="640081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1" name="Rectangle 14"/>
          <p:cNvSpPr/>
          <p:nvPr/>
        </p:nvSpPr>
        <p:spPr>
          <a:xfrm>
            <a:off x="438911" y="3611879"/>
            <a:ext cx="5321810" cy="640081"/>
          </a:xfrm>
          <a:prstGeom prst="rect">
            <a:avLst/>
          </a:prstGeom>
          <a:solidFill>
            <a:srgbClr val="3822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TextBox 15"/>
          <p:cNvSpPr txBox="1"/>
          <p:nvPr/>
        </p:nvSpPr>
        <p:spPr>
          <a:xfrm>
            <a:off x="576071" y="3678621"/>
            <a:ext cx="502920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For each prediction target — extract only a small local subgraph around the two nodes of interest</a:t>
            </a:r>
          </a:p>
        </p:txBody>
      </p:sp>
      <p:sp>
        <p:nvSpPr>
          <p:cNvPr id="543" name="TextBox 16"/>
          <p:cNvSpPr txBox="1"/>
          <p:nvPr/>
        </p:nvSpPr>
        <p:spPr>
          <a:xfrm>
            <a:off x="411479" y="4398264"/>
            <a:ext cx="530352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Include just the two target nodes + their immediate neighbors (1 hop away)</a:t>
            </a:r>
          </a:p>
        </p:txBody>
      </p:sp>
      <p:sp>
        <p:nvSpPr>
          <p:cNvPr id="544" name="Oval 17"/>
          <p:cNvSpPr/>
          <p:nvPr/>
        </p:nvSpPr>
        <p:spPr>
          <a:xfrm>
            <a:off x="6693407" y="1911094"/>
            <a:ext cx="512065" cy="512065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5" name="TextBox 18"/>
          <p:cNvSpPr txBox="1"/>
          <p:nvPr/>
        </p:nvSpPr>
        <p:spPr>
          <a:xfrm>
            <a:off x="6611582" y="2459735"/>
            <a:ext cx="675716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D8D0C0"/>
                </a:solidFill>
              </a:defRPr>
            </a:lvl1pPr>
          </a:lstStyle>
          <a:p>
            <a:pPr/>
            <a:r>
              <a:t>lncRNA-1</a:t>
            </a:r>
          </a:p>
        </p:txBody>
      </p:sp>
      <p:sp>
        <p:nvSpPr>
          <p:cNvPr id="546" name="Oval 19"/>
          <p:cNvSpPr/>
          <p:nvPr/>
        </p:nvSpPr>
        <p:spPr>
          <a:xfrm>
            <a:off x="10351007" y="1911094"/>
            <a:ext cx="512065" cy="512065"/>
          </a:xfrm>
          <a:prstGeom prst="ellipse">
            <a:avLst/>
          </a:prstGeom>
          <a:solidFill>
            <a:srgbClr val="163024"/>
          </a:solidFill>
          <a:ln w="2286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7" name="TextBox 20"/>
          <p:cNvSpPr txBox="1"/>
          <p:nvPr/>
        </p:nvSpPr>
        <p:spPr>
          <a:xfrm>
            <a:off x="10251249" y="2459735"/>
            <a:ext cx="7115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D8D0C0"/>
                </a:solidFill>
              </a:defRPr>
            </a:lvl1pPr>
          </a:lstStyle>
          <a:p>
            <a:pPr/>
            <a:r>
              <a:t>Disease-A</a:t>
            </a:r>
          </a:p>
        </p:txBody>
      </p:sp>
      <p:sp>
        <p:nvSpPr>
          <p:cNvPr id="548" name="Rectangle 21"/>
          <p:cNvSpPr/>
          <p:nvPr/>
        </p:nvSpPr>
        <p:spPr>
          <a:xfrm rot="3011666">
            <a:off x="6692469" y="2697479"/>
            <a:ext cx="1428339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9" name="Rectangle 22"/>
          <p:cNvSpPr/>
          <p:nvPr/>
        </p:nvSpPr>
        <p:spPr>
          <a:xfrm rot="2212194">
            <a:off x="6720840" y="2834639"/>
            <a:ext cx="2286001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0" name="Rectangle 23"/>
          <p:cNvSpPr/>
          <p:nvPr/>
        </p:nvSpPr>
        <p:spPr>
          <a:xfrm rot="1106096">
            <a:off x="6912343" y="2377439"/>
            <a:ext cx="1445794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1" name="Rectangle 24"/>
          <p:cNvSpPr/>
          <p:nvPr/>
        </p:nvSpPr>
        <p:spPr>
          <a:xfrm rot="7788334">
            <a:off x="9435669" y="2697479"/>
            <a:ext cx="1428339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" name="Rectangle 25"/>
          <p:cNvSpPr/>
          <p:nvPr/>
        </p:nvSpPr>
        <p:spPr>
          <a:xfrm rot="8587806">
            <a:off x="8549640" y="2834639"/>
            <a:ext cx="2286001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3" name="Rectangle 26"/>
          <p:cNvSpPr/>
          <p:nvPr/>
        </p:nvSpPr>
        <p:spPr>
          <a:xfrm rot="10121404">
            <a:off x="8298404" y="2377439"/>
            <a:ext cx="2331272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4" name="Rectangle 27"/>
          <p:cNvSpPr/>
          <p:nvPr/>
        </p:nvSpPr>
        <p:spPr>
          <a:xfrm>
            <a:off x="6949440" y="2148839"/>
            <a:ext cx="3657601" cy="36577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5" name="TextBox 28"/>
          <p:cNvSpPr txBox="1"/>
          <p:nvPr/>
        </p:nvSpPr>
        <p:spPr>
          <a:xfrm>
            <a:off x="8458200" y="1892807"/>
            <a:ext cx="3474719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F0EBE0"/>
                </a:solidFill>
              </a:defRPr>
            </a:lvl1pPr>
          </a:lstStyle>
          <a:p>
            <a:pPr/>
            <a:r>
              <a:t>Predict?</a:t>
            </a:r>
          </a:p>
        </p:txBody>
      </p:sp>
      <p:sp>
        <p:nvSpPr>
          <p:cNvPr id="556" name="Oval 29"/>
          <p:cNvSpPr/>
          <p:nvPr/>
        </p:nvSpPr>
        <p:spPr>
          <a:xfrm>
            <a:off x="7662671" y="3063239"/>
            <a:ext cx="402337" cy="40233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" name="TextBox 30"/>
          <p:cNvSpPr txBox="1"/>
          <p:nvPr/>
        </p:nvSpPr>
        <p:spPr>
          <a:xfrm>
            <a:off x="7560235" y="3502152"/>
            <a:ext cx="60721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D8D0C0"/>
                </a:solidFill>
              </a:defRPr>
            </a:lvl1pPr>
          </a:lstStyle>
          <a:p>
            <a:pPr/>
            <a:r>
              <a:t>miRNA-1</a:t>
            </a:r>
          </a:p>
        </p:txBody>
      </p:sp>
      <p:sp>
        <p:nvSpPr>
          <p:cNvPr id="558" name="Oval 31"/>
          <p:cNvSpPr/>
          <p:nvPr/>
        </p:nvSpPr>
        <p:spPr>
          <a:xfrm>
            <a:off x="8577071" y="3337559"/>
            <a:ext cx="402337" cy="40233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9" name="TextBox 32"/>
          <p:cNvSpPr txBox="1"/>
          <p:nvPr/>
        </p:nvSpPr>
        <p:spPr>
          <a:xfrm>
            <a:off x="8474635" y="3776471"/>
            <a:ext cx="60721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D8D0C0"/>
                </a:solidFill>
              </a:defRPr>
            </a:lvl1pPr>
          </a:lstStyle>
          <a:p>
            <a:pPr/>
            <a:r>
              <a:t>miRNA-2</a:t>
            </a:r>
          </a:p>
        </p:txBody>
      </p:sp>
      <p:sp>
        <p:nvSpPr>
          <p:cNvPr id="560" name="Oval 33"/>
          <p:cNvSpPr/>
          <p:nvPr/>
        </p:nvSpPr>
        <p:spPr>
          <a:xfrm>
            <a:off x="9491471" y="3063239"/>
            <a:ext cx="402337" cy="40233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1" name="TextBox 34"/>
          <p:cNvSpPr txBox="1"/>
          <p:nvPr/>
        </p:nvSpPr>
        <p:spPr>
          <a:xfrm>
            <a:off x="9389035" y="3502152"/>
            <a:ext cx="60721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D8D0C0"/>
                </a:solidFill>
              </a:defRPr>
            </a:lvl1pPr>
          </a:lstStyle>
          <a:p>
            <a:pPr/>
            <a:r>
              <a:t>miRNA-3</a:t>
            </a:r>
          </a:p>
        </p:txBody>
      </p:sp>
      <p:sp>
        <p:nvSpPr>
          <p:cNvPr id="562" name="Oval 35"/>
          <p:cNvSpPr/>
          <p:nvPr/>
        </p:nvSpPr>
        <p:spPr>
          <a:xfrm>
            <a:off x="8119871" y="2423160"/>
            <a:ext cx="402337" cy="40233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3" name="TextBox 36"/>
          <p:cNvSpPr txBox="1"/>
          <p:nvPr/>
        </p:nvSpPr>
        <p:spPr>
          <a:xfrm>
            <a:off x="8017435" y="2862072"/>
            <a:ext cx="60721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D8D0C0"/>
                </a:solidFill>
              </a:defRPr>
            </a:lvl1pPr>
          </a:lstStyle>
          <a:p>
            <a:pPr/>
            <a:r>
              <a:t>miRNA-4</a:t>
            </a:r>
          </a:p>
        </p:txBody>
      </p:sp>
      <p:sp>
        <p:nvSpPr>
          <p:cNvPr id="564" name="TextBox 37"/>
          <p:cNvSpPr txBox="1"/>
          <p:nvPr/>
        </p:nvSpPr>
        <p:spPr>
          <a:xfrm>
            <a:off x="7452359" y="417880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9A9080"/>
                </a:solidFill>
              </a:defRPr>
            </a:lvl1pPr>
          </a:lstStyle>
          <a:p>
            <a:pPr/>
            <a:r>
              <a:t>Subgraph around lncRNA-1 ↔ Disease-A pair</a:t>
            </a:r>
          </a:p>
        </p:txBody>
      </p:sp>
      <p:sp>
        <p:nvSpPr>
          <p:cNvPr id="565" name="Oval 38"/>
          <p:cNvSpPr/>
          <p:nvPr/>
        </p:nvSpPr>
        <p:spPr>
          <a:xfrm>
            <a:off x="7434071" y="4709159"/>
            <a:ext cx="219457" cy="219457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6" name="TextBox 40"/>
          <p:cNvSpPr txBox="1"/>
          <p:nvPr/>
        </p:nvSpPr>
        <p:spPr>
          <a:xfrm>
            <a:off x="7772400" y="4709159"/>
            <a:ext cx="1005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9A9080"/>
                </a:solidFill>
              </a:defRPr>
            </a:lvl1pPr>
          </a:lstStyle>
          <a:p>
            <a:pPr/>
            <a:r>
              <a:t>lncRNA</a:t>
            </a:r>
          </a:p>
        </p:txBody>
      </p:sp>
      <p:sp>
        <p:nvSpPr>
          <p:cNvPr id="567" name="Oval 41"/>
          <p:cNvSpPr/>
          <p:nvPr/>
        </p:nvSpPr>
        <p:spPr>
          <a:xfrm>
            <a:off x="8485631" y="4709159"/>
            <a:ext cx="219457" cy="21945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8" name="TextBox 43"/>
          <p:cNvSpPr txBox="1"/>
          <p:nvPr/>
        </p:nvSpPr>
        <p:spPr>
          <a:xfrm>
            <a:off x="8823959" y="4709159"/>
            <a:ext cx="1005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9A9080"/>
                </a:solidFill>
              </a:defRPr>
            </a:lvl1pPr>
          </a:lstStyle>
          <a:p>
            <a:pPr/>
            <a:r>
              <a:t>miRNA</a:t>
            </a:r>
          </a:p>
        </p:txBody>
      </p:sp>
      <p:sp>
        <p:nvSpPr>
          <p:cNvPr id="569" name="Oval 44"/>
          <p:cNvSpPr/>
          <p:nvPr/>
        </p:nvSpPr>
        <p:spPr>
          <a:xfrm>
            <a:off x="9582911" y="4709159"/>
            <a:ext cx="219457" cy="219457"/>
          </a:xfrm>
          <a:prstGeom prst="ellipse">
            <a:avLst/>
          </a:prstGeom>
          <a:solidFill>
            <a:srgbClr val="163024"/>
          </a:solidFill>
          <a:ln w="2286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0" name="TextBox 46"/>
          <p:cNvSpPr txBox="1"/>
          <p:nvPr/>
        </p:nvSpPr>
        <p:spPr>
          <a:xfrm>
            <a:off x="9921239" y="4709159"/>
            <a:ext cx="1005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9A9080"/>
                </a:solidFill>
              </a:defRPr>
            </a:lvl1pPr>
          </a:lstStyle>
          <a:p>
            <a:pPr/>
            <a:r>
              <a:t>Disease</a:t>
            </a:r>
          </a:p>
        </p:txBody>
      </p:sp>
      <p:sp>
        <p:nvSpPr>
          <p:cNvPr id="571" name="Rectangle 47"/>
          <p:cNvSpPr/>
          <p:nvPr/>
        </p:nvSpPr>
        <p:spPr>
          <a:xfrm>
            <a:off x="5989320" y="1325880"/>
            <a:ext cx="12701" cy="530352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6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7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08b</a:t>
            </a:r>
          </a:p>
        </p:txBody>
      </p:sp>
      <p:sp>
        <p:nvSpPr>
          <p:cNvPr id="578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HSELDA: lncRNA–Disease Prediction Results</a:t>
            </a:r>
          </a:p>
        </p:txBody>
      </p:sp>
      <p:sp>
        <p:nvSpPr>
          <p:cNvPr id="579" name="Rectangle 5"/>
          <p:cNvSpPr/>
          <p:nvPr/>
        </p:nvSpPr>
        <p:spPr>
          <a:xfrm>
            <a:off x="10118749" y="425195"/>
            <a:ext cx="179588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0" name="TextBox 6"/>
          <p:cNvSpPr txBox="1"/>
          <p:nvPr/>
        </p:nvSpPr>
        <p:spPr>
          <a:xfrm>
            <a:off x="10526352" y="502964"/>
            <a:ext cx="98067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Zhou et al., 2023</a:t>
            </a:r>
          </a:p>
        </p:txBody>
      </p:sp>
      <p:sp>
        <p:nvSpPr>
          <p:cNvPr id="581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2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MODEL ARCHITECTURE</a:t>
            </a:r>
          </a:p>
        </p:txBody>
      </p:sp>
      <p:sp>
        <p:nvSpPr>
          <p:cNvPr id="583" name="TextBox 9"/>
          <p:cNvSpPr txBox="1"/>
          <p:nvPr/>
        </p:nvSpPr>
        <p:spPr>
          <a:xfrm>
            <a:off x="411479" y="1746504"/>
            <a:ext cx="530352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R-GCN applied on each extracted subgraph — handles different node and edge types per subgraph</a:t>
            </a:r>
          </a:p>
        </p:txBody>
      </p:sp>
      <p:sp>
        <p:nvSpPr>
          <p:cNvPr id="584" name="TextBox 10"/>
          <p:cNvSpPr txBox="1"/>
          <p:nvPr/>
        </p:nvSpPr>
        <p:spPr>
          <a:xfrm>
            <a:off x="411479" y="2350007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BASELINES COMPARED</a:t>
            </a:r>
          </a:p>
        </p:txBody>
      </p:sp>
      <p:sp>
        <p:nvSpPr>
          <p:cNvPr id="585" name="TextBox 11"/>
          <p:cNvSpPr txBox="1"/>
          <p:nvPr/>
        </p:nvSpPr>
        <p:spPr>
          <a:xfrm>
            <a:off x="411479" y="2660904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LDAP  ·  MFLDA  ·  Ping's method  ·  SIMCLDA  ·  GCNLDA</a:t>
            </a:r>
          </a:p>
        </p:txBody>
      </p:sp>
      <p:sp>
        <p:nvSpPr>
          <p:cNvPr id="586" name="TextBox 12"/>
          <p:cNvSpPr txBox="1"/>
          <p:nvPr/>
        </p:nvSpPr>
        <p:spPr>
          <a:xfrm>
            <a:off x="411479" y="3172967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587" name="Rectangle 13"/>
          <p:cNvSpPr/>
          <p:nvPr/>
        </p:nvSpPr>
        <p:spPr>
          <a:xfrm>
            <a:off x="365759" y="3483864"/>
            <a:ext cx="5394962" cy="777241"/>
          </a:xfrm>
          <a:prstGeom prst="rect">
            <a:avLst/>
          </a:prstGeom>
          <a:solidFill>
            <a:srgbClr val="242019"/>
          </a:solidFill>
          <a:ln w="1905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8" name="TextBox 14"/>
          <p:cNvSpPr txBox="1"/>
          <p:nvPr/>
        </p:nvSpPr>
        <p:spPr>
          <a:xfrm>
            <a:off x="548639" y="3679796"/>
            <a:ext cx="2735113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100">
                <a:solidFill>
                  <a:srgbClr val="D8D0C0"/>
                </a:solidFill>
              </a:defRPr>
            </a:pPr>
            <a:r>
              <a:t>AUROC =  </a:t>
            </a:r>
            <a:r>
              <a:rPr b="1" sz="2200">
                <a:solidFill>
                  <a:srgbClr val="5AB88A"/>
                </a:solidFill>
              </a:rPr>
              <a:t>0.967</a:t>
            </a:r>
            <a:r>
              <a:rPr>
                <a:solidFill>
                  <a:srgbClr val="9A9080"/>
                </a:solidFill>
              </a:rPr>
              <a:t>  Best across all baselines</a:t>
            </a:r>
          </a:p>
        </p:txBody>
      </p:sp>
      <p:sp>
        <p:nvSpPr>
          <p:cNvPr id="589" name="Rectangle 15"/>
          <p:cNvSpPr/>
          <p:nvPr/>
        </p:nvSpPr>
        <p:spPr>
          <a:xfrm>
            <a:off x="365759" y="4407408"/>
            <a:ext cx="5394962" cy="777241"/>
          </a:xfrm>
          <a:prstGeom prst="rect">
            <a:avLst/>
          </a:prstGeom>
          <a:solidFill>
            <a:srgbClr val="242019"/>
          </a:solidFill>
          <a:ln w="1905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TextBox 16"/>
          <p:cNvSpPr txBox="1"/>
          <p:nvPr/>
        </p:nvSpPr>
        <p:spPr>
          <a:xfrm>
            <a:off x="548639" y="4603340"/>
            <a:ext cx="2891798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100">
                <a:solidFill>
                  <a:srgbClr val="D8D0C0"/>
                </a:solidFill>
              </a:defRPr>
            </a:pPr>
            <a:r>
              <a:t>AUPRC =  </a:t>
            </a:r>
            <a:r>
              <a:rPr b="1" sz="2200">
                <a:solidFill>
                  <a:srgbClr val="5AB88A"/>
                </a:solidFill>
              </a:rPr>
              <a:t>0.965</a:t>
            </a:r>
            <a:r>
              <a:rPr>
                <a:solidFill>
                  <a:srgbClr val="9A9080"/>
                </a:solidFill>
              </a:rPr>
              <a:t>  74.2% better than GCNLDA</a:t>
            </a:r>
          </a:p>
        </p:txBody>
      </p:sp>
      <p:sp>
        <p:nvSpPr>
          <p:cNvPr id="591" name="TextBox 17"/>
          <p:cNvSpPr txBox="1"/>
          <p:nvPr/>
        </p:nvSpPr>
        <p:spPr>
          <a:xfrm>
            <a:off x="411479" y="5330952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HIGHLIGHT</a:t>
            </a:r>
          </a:p>
        </p:txBody>
      </p:sp>
      <p:sp>
        <p:nvSpPr>
          <p:cNvPr id="592" name="Rectangle 18"/>
          <p:cNvSpPr/>
          <p:nvPr/>
        </p:nvSpPr>
        <p:spPr>
          <a:xfrm>
            <a:off x="365759" y="5641847"/>
            <a:ext cx="73153" cy="475488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3" name="Rectangle 19"/>
          <p:cNvSpPr/>
          <p:nvPr/>
        </p:nvSpPr>
        <p:spPr>
          <a:xfrm>
            <a:off x="438911" y="5641847"/>
            <a:ext cx="5321810" cy="475488"/>
          </a:xfrm>
          <a:prstGeom prst="rect">
            <a:avLst/>
          </a:prstGeom>
          <a:solidFill>
            <a:srgbClr val="3822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4" name="TextBox 20"/>
          <p:cNvSpPr txBox="1"/>
          <p:nvPr/>
        </p:nvSpPr>
        <p:spPr>
          <a:xfrm>
            <a:off x="576071" y="5740593"/>
            <a:ext cx="50292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Computationally lighter than full-graph message passing</a:t>
            </a:r>
          </a:p>
        </p:txBody>
      </p:sp>
      <p:sp>
        <p:nvSpPr>
          <p:cNvPr id="595" name="Oval 21"/>
          <p:cNvSpPr/>
          <p:nvPr/>
        </p:nvSpPr>
        <p:spPr>
          <a:xfrm>
            <a:off x="6693407" y="1911094"/>
            <a:ext cx="512065" cy="512065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6" name="TextBox 22"/>
          <p:cNvSpPr txBox="1"/>
          <p:nvPr/>
        </p:nvSpPr>
        <p:spPr>
          <a:xfrm>
            <a:off x="6611582" y="2459735"/>
            <a:ext cx="675716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D8D0C0"/>
                </a:solidFill>
              </a:defRPr>
            </a:lvl1pPr>
          </a:lstStyle>
          <a:p>
            <a:pPr/>
            <a:r>
              <a:t>lncRNA-1</a:t>
            </a:r>
          </a:p>
        </p:txBody>
      </p:sp>
      <p:sp>
        <p:nvSpPr>
          <p:cNvPr id="597" name="Oval 23"/>
          <p:cNvSpPr/>
          <p:nvPr/>
        </p:nvSpPr>
        <p:spPr>
          <a:xfrm>
            <a:off x="10351007" y="1911094"/>
            <a:ext cx="512065" cy="512065"/>
          </a:xfrm>
          <a:prstGeom prst="ellipse">
            <a:avLst/>
          </a:prstGeom>
          <a:solidFill>
            <a:srgbClr val="163024"/>
          </a:solidFill>
          <a:ln w="2286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8" name="TextBox 24"/>
          <p:cNvSpPr txBox="1"/>
          <p:nvPr/>
        </p:nvSpPr>
        <p:spPr>
          <a:xfrm>
            <a:off x="10251249" y="2459735"/>
            <a:ext cx="7115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D8D0C0"/>
                </a:solidFill>
              </a:defRPr>
            </a:lvl1pPr>
          </a:lstStyle>
          <a:p>
            <a:pPr/>
            <a:r>
              <a:t>Disease-A</a:t>
            </a:r>
          </a:p>
        </p:txBody>
      </p:sp>
      <p:sp>
        <p:nvSpPr>
          <p:cNvPr id="599" name="Rectangle 25"/>
          <p:cNvSpPr/>
          <p:nvPr/>
        </p:nvSpPr>
        <p:spPr>
          <a:xfrm rot="3011666">
            <a:off x="6692469" y="2697479"/>
            <a:ext cx="1428339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" name="Rectangle 26"/>
          <p:cNvSpPr/>
          <p:nvPr/>
        </p:nvSpPr>
        <p:spPr>
          <a:xfrm rot="2212194">
            <a:off x="6720840" y="2834639"/>
            <a:ext cx="2286001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" name="Rectangle 27"/>
          <p:cNvSpPr/>
          <p:nvPr/>
        </p:nvSpPr>
        <p:spPr>
          <a:xfrm rot="1106096">
            <a:off x="6912343" y="2377439"/>
            <a:ext cx="1445794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2" name="Rectangle 28"/>
          <p:cNvSpPr/>
          <p:nvPr/>
        </p:nvSpPr>
        <p:spPr>
          <a:xfrm rot="7788334">
            <a:off x="9435669" y="2697479"/>
            <a:ext cx="1428339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3" name="Rectangle 29"/>
          <p:cNvSpPr/>
          <p:nvPr/>
        </p:nvSpPr>
        <p:spPr>
          <a:xfrm rot="8587806">
            <a:off x="8549640" y="2834639"/>
            <a:ext cx="2286001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4" name="Rectangle 30"/>
          <p:cNvSpPr/>
          <p:nvPr/>
        </p:nvSpPr>
        <p:spPr>
          <a:xfrm rot="10121404">
            <a:off x="8298404" y="2377439"/>
            <a:ext cx="2331272" cy="36577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5" name="Rectangle 31"/>
          <p:cNvSpPr/>
          <p:nvPr/>
        </p:nvSpPr>
        <p:spPr>
          <a:xfrm>
            <a:off x="6949440" y="2148839"/>
            <a:ext cx="3657601" cy="36577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6" name="TextBox 32"/>
          <p:cNvSpPr txBox="1"/>
          <p:nvPr/>
        </p:nvSpPr>
        <p:spPr>
          <a:xfrm>
            <a:off x="8458200" y="1892807"/>
            <a:ext cx="3474719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F0EBE0"/>
                </a:solidFill>
              </a:defRPr>
            </a:lvl1pPr>
          </a:lstStyle>
          <a:p>
            <a:pPr/>
            <a:r>
              <a:t>Predict?</a:t>
            </a:r>
          </a:p>
        </p:txBody>
      </p:sp>
      <p:sp>
        <p:nvSpPr>
          <p:cNvPr id="607" name="Oval 33"/>
          <p:cNvSpPr/>
          <p:nvPr/>
        </p:nvSpPr>
        <p:spPr>
          <a:xfrm>
            <a:off x="7662671" y="3063239"/>
            <a:ext cx="402337" cy="40233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8" name="TextBox 34"/>
          <p:cNvSpPr txBox="1"/>
          <p:nvPr/>
        </p:nvSpPr>
        <p:spPr>
          <a:xfrm>
            <a:off x="7560235" y="3502152"/>
            <a:ext cx="60721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D8D0C0"/>
                </a:solidFill>
              </a:defRPr>
            </a:lvl1pPr>
          </a:lstStyle>
          <a:p>
            <a:pPr/>
            <a:r>
              <a:t>miRNA-1</a:t>
            </a:r>
          </a:p>
        </p:txBody>
      </p:sp>
      <p:sp>
        <p:nvSpPr>
          <p:cNvPr id="609" name="Oval 35"/>
          <p:cNvSpPr/>
          <p:nvPr/>
        </p:nvSpPr>
        <p:spPr>
          <a:xfrm>
            <a:off x="8577071" y="3337559"/>
            <a:ext cx="402337" cy="40233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TextBox 36"/>
          <p:cNvSpPr txBox="1"/>
          <p:nvPr/>
        </p:nvSpPr>
        <p:spPr>
          <a:xfrm>
            <a:off x="8474635" y="3776471"/>
            <a:ext cx="60721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D8D0C0"/>
                </a:solidFill>
              </a:defRPr>
            </a:lvl1pPr>
          </a:lstStyle>
          <a:p>
            <a:pPr/>
            <a:r>
              <a:t>miRNA-2</a:t>
            </a:r>
          </a:p>
        </p:txBody>
      </p:sp>
      <p:sp>
        <p:nvSpPr>
          <p:cNvPr id="611" name="Oval 37"/>
          <p:cNvSpPr/>
          <p:nvPr/>
        </p:nvSpPr>
        <p:spPr>
          <a:xfrm>
            <a:off x="9491471" y="3063239"/>
            <a:ext cx="402337" cy="40233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2" name="TextBox 38"/>
          <p:cNvSpPr txBox="1"/>
          <p:nvPr/>
        </p:nvSpPr>
        <p:spPr>
          <a:xfrm>
            <a:off x="9389035" y="3502152"/>
            <a:ext cx="60721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D8D0C0"/>
                </a:solidFill>
              </a:defRPr>
            </a:lvl1pPr>
          </a:lstStyle>
          <a:p>
            <a:pPr/>
            <a:r>
              <a:t>miRNA-3</a:t>
            </a:r>
          </a:p>
        </p:txBody>
      </p:sp>
      <p:sp>
        <p:nvSpPr>
          <p:cNvPr id="613" name="Oval 39"/>
          <p:cNvSpPr/>
          <p:nvPr/>
        </p:nvSpPr>
        <p:spPr>
          <a:xfrm>
            <a:off x="8119871" y="2423160"/>
            <a:ext cx="402337" cy="40233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4" name="TextBox 40"/>
          <p:cNvSpPr txBox="1"/>
          <p:nvPr/>
        </p:nvSpPr>
        <p:spPr>
          <a:xfrm>
            <a:off x="8017435" y="2862072"/>
            <a:ext cx="60721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D8D0C0"/>
                </a:solidFill>
              </a:defRPr>
            </a:lvl1pPr>
          </a:lstStyle>
          <a:p>
            <a:pPr/>
            <a:r>
              <a:t>miRNA-4</a:t>
            </a:r>
          </a:p>
        </p:txBody>
      </p:sp>
      <p:sp>
        <p:nvSpPr>
          <p:cNvPr id="615" name="TextBox 41"/>
          <p:cNvSpPr txBox="1"/>
          <p:nvPr/>
        </p:nvSpPr>
        <p:spPr>
          <a:xfrm>
            <a:off x="6995159" y="4178808"/>
            <a:ext cx="32004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9A9080"/>
                </a:solidFill>
              </a:defRPr>
            </a:lvl1pPr>
          </a:lstStyle>
          <a:p>
            <a:pPr/>
            <a:r>
              <a:t>Subgraph around lncRNA-1 ↔ Disease-A pair</a:t>
            </a:r>
          </a:p>
        </p:txBody>
      </p:sp>
      <p:sp>
        <p:nvSpPr>
          <p:cNvPr id="616" name="Oval 42"/>
          <p:cNvSpPr/>
          <p:nvPr/>
        </p:nvSpPr>
        <p:spPr>
          <a:xfrm>
            <a:off x="6793992" y="4709159"/>
            <a:ext cx="219457" cy="219457"/>
          </a:xfrm>
          <a:prstGeom prst="ellipse">
            <a:avLst/>
          </a:prstGeom>
          <a:solidFill>
            <a:srgbClr val="382216"/>
          </a:solidFill>
          <a:ln w="2286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7" name="TextBox 44"/>
          <p:cNvSpPr txBox="1"/>
          <p:nvPr/>
        </p:nvSpPr>
        <p:spPr>
          <a:xfrm>
            <a:off x="7132319" y="4709159"/>
            <a:ext cx="1005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9A9080"/>
                </a:solidFill>
              </a:defRPr>
            </a:lvl1pPr>
          </a:lstStyle>
          <a:p>
            <a:pPr/>
            <a:r>
              <a:t>lncRNA</a:t>
            </a:r>
          </a:p>
        </p:txBody>
      </p:sp>
      <p:sp>
        <p:nvSpPr>
          <p:cNvPr id="618" name="Oval 45"/>
          <p:cNvSpPr/>
          <p:nvPr/>
        </p:nvSpPr>
        <p:spPr>
          <a:xfrm>
            <a:off x="7845552" y="4709159"/>
            <a:ext cx="219457" cy="219457"/>
          </a:xfrm>
          <a:prstGeom prst="ellipse">
            <a:avLst/>
          </a:prstGeom>
          <a:solidFill>
            <a:srgbClr val="162838"/>
          </a:solidFill>
          <a:ln w="2286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TextBox 47"/>
          <p:cNvSpPr txBox="1"/>
          <p:nvPr/>
        </p:nvSpPr>
        <p:spPr>
          <a:xfrm>
            <a:off x="8183879" y="4709159"/>
            <a:ext cx="1005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9A9080"/>
                </a:solidFill>
              </a:defRPr>
            </a:lvl1pPr>
          </a:lstStyle>
          <a:p>
            <a:pPr/>
            <a:r>
              <a:t>miRNA</a:t>
            </a:r>
          </a:p>
        </p:txBody>
      </p:sp>
      <p:sp>
        <p:nvSpPr>
          <p:cNvPr id="620" name="Oval 48"/>
          <p:cNvSpPr/>
          <p:nvPr/>
        </p:nvSpPr>
        <p:spPr>
          <a:xfrm>
            <a:off x="8942831" y="4709159"/>
            <a:ext cx="219457" cy="219457"/>
          </a:xfrm>
          <a:prstGeom prst="ellipse">
            <a:avLst/>
          </a:prstGeom>
          <a:solidFill>
            <a:srgbClr val="163024"/>
          </a:solidFill>
          <a:ln w="2286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1" name="TextBox 50"/>
          <p:cNvSpPr txBox="1"/>
          <p:nvPr/>
        </p:nvSpPr>
        <p:spPr>
          <a:xfrm>
            <a:off x="9281159" y="4709159"/>
            <a:ext cx="1005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9A9080"/>
                </a:solidFill>
              </a:defRPr>
            </a:lvl1pPr>
          </a:lstStyle>
          <a:p>
            <a:pPr/>
            <a:r>
              <a:t>Disease</a:t>
            </a:r>
          </a:p>
        </p:txBody>
      </p:sp>
      <p:sp>
        <p:nvSpPr>
          <p:cNvPr id="622" name="Rectangle 51"/>
          <p:cNvSpPr/>
          <p:nvPr/>
        </p:nvSpPr>
        <p:spPr>
          <a:xfrm>
            <a:off x="5989320" y="1325880"/>
            <a:ext cx="12701" cy="530352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8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09a</a:t>
            </a:r>
          </a:p>
        </p:txBody>
      </p:sp>
      <p:sp>
        <p:nvSpPr>
          <p:cNvPr id="629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Environmental Toxin-Disease Prediction</a:t>
            </a:r>
          </a:p>
        </p:txBody>
      </p:sp>
      <p:sp>
        <p:nvSpPr>
          <p:cNvPr id="630" name="Rectangle 5"/>
          <p:cNvSpPr/>
          <p:nvPr/>
        </p:nvSpPr>
        <p:spPr>
          <a:xfrm>
            <a:off x="10118749" y="425195"/>
            <a:ext cx="179588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1" name="TextBox 6"/>
          <p:cNvSpPr txBox="1"/>
          <p:nvPr/>
        </p:nvSpPr>
        <p:spPr>
          <a:xfrm>
            <a:off x="10509826" y="502964"/>
            <a:ext cx="101372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Agmy et al., 2025</a:t>
            </a:r>
          </a:p>
        </p:txBody>
      </p:sp>
      <p:sp>
        <p:nvSpPr>
          <p:cNvPr id="632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3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THE GRAPH</a:t>
            </a:r>
          </a:p>
        </p:txBody>
      </p:sp>
      <p:sp>
        <p:nvSpPr>
          <p:cNvPr id="634" name="TextBox 9"/>
          <p:cNvSpPr txBox="1"/>
          <p:nvPr/>
        </p:nvSpPr>
        <p:spPr>
          <a:xfrm>
            <a:off x="411479" y="1746504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T3DB: Toxin &amp; Toxin Target Database</a:t>
            </a:r>
          </a:p>
        </p:txBody>
      </p:sp>
      <p:sp>
        <p:nvSpPr>
          <p:cNvPr id="635" name="TextBox 10"/>
          <p:cNvSpPr txBox="1"/>
          <p:nvPr/>
        </p:nvSpPr>
        <p:spPr>
          <a:xfrm>
            <a:off x="411479" y="2322576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NODES</a:t>
            </a:r>
          </a:p>
        </p:txBody>
      </p:sp>
      <p:sp>
        <p:nvSpPr>
          <p:cNvPr id="636" name="TextBox 11"/>
          <p:cNvSpPr txBox="1"/>
          <p:nvPr/>
        </p:nvSpPr>
        <p:spPr>
          <a:xfrm>
            <a:off x="411479" y="2633472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Nodes: toxins · symptoms · protein/gene targets · exposure routes · environmental factors</a:t>
            </a:r>
          </a:p>
        </p:txBody>
      </p:sp>
      <p:sp>
        <p:nvSpPr>
          <p:cNvPr id="637" name="TextBox 12"/>
          <p:cNvSpPr txBox="1"/>
          <p:nvPr/>
        </p:nvSpPr>
        <p:spPr>
          <a:xfrm>
            <a:off x="411479" y="3145535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49,501 nodes  ·  89,988 edges</a:t>
            </a:r>
          </a:p>
        </p:txBody>
      </p:sp>
      <p:sp>
        <p:nvSpPr>
          <p:cNvPr id="638" name="Rectangle 13"/>
          <p:cNvSpPr/>
          <p:nvPr/>
        </p:nvSpPr>
        <p:spPr>
          <a:xfrm>
            <a:off x="365759" y="3721608"/>
            <a:ext cx="73153" cy="475488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9" name="Rectangle 14"/>
          <p:cNvSpPr/>
          <p:nvPr/>
        </p:nvSpPr>
        <p:spPr>
          <a:xfrm>
            <a:off x="438912" y="3721608"/>
            <a:ext cx="11356848" cy="475488"/>
          </a:xfrm>
          <a:prstGeom prst="rect">
            <a:avLst/>
          </a:prstGeom>
          <a:solidFill>
            <a:srgbClr val="1628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0" name="TextBox 15"/>
          <p:cNvSpPr txBox="1"/>
          <p:nvPr/>
        </p:nvSpPr>
        <p:spPr>
          <a:xfrm>
            <a:off x="576071" y="3820353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Unlike many biomedical graphs — adds exposure context beyond molecular interactions</a:t>
            </a:r>
          </a:p>
        </p:txBody>
      </p:sp>
      <p:sp>
        <p:nvSpPr>
          <p:cNvPr id="641" name="TextBox 16"/>
          <p:cNvSpPr txBox="1"/>
          <p:nvPr/>
        </p:nvSpPr>
        <p:spPr>
          <a:xfrm>
            <a:off x="411479" y="4407408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TWO STEP TASK</a:t>
            </a:r>
          </a:p>
        </p:txBody>
      </p:sp>
      <p:sp>
        <p:nvSpPr>
          <p:cNvPr id="642" name="Rectangle 17"/>
          <p:cNvSpPr/>
          <p:nvPr/>
        </p:nvSpPr>
        <p:spPr>
          <a:xfrm>
            <a:off x="365759" y="4718303"/>
            <a:ext cx="73153" cy="475488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3" name="Rectangle 18"/>
          <p:cNvSpPr/>
          <p:nvPr/>
        </p:nvSpPr>
        <p:spPr>
          <a:xfrm>
            <a:off x="438912" y="4718303"/>
            <a:ext cx="11356848" cy="475488"/>
          </a:xfrm>
          <a:prstGeom prst="rect">
            <a:avLst/>
          </a:prstGeom>
          <a:solidFill>
            <a:srgbClr val="3822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4" name="TextBox 19"/>
          <p:cNvSpPr txBox="1"/>
          <p:nvPr/>
        </p:nvSpPr>
        <p:spPr>
          <a:xfrm>
            <a:off x="576071" y="4817049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Step 1 — Node-level prediction to refine toxin embeddings</a:t>
            </a:r>
          </a:p>
        </p:txBody>
      </p:sp>
      <p:sp>
        <p:nvSpPr>
          <p:cNvPr id="645" name="Rectangle 20"/>
          <p:cNvSpPr/>
          <p:nvPr/>
        </p:nvSpPr>
        <p:spPr>
          <a:xfrm>
            <a:off x="365759" y="5340096"/>
            <a:ext cx="73153" cy="475488"/>
          </a:xfrm>
          <a:prstGeom prst="rect">
            <a:avLst/>
          </a:prstGeom>
          <a:solidFill>
            <a:srgbClr val="5AB8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6" name="Rectangle 21"/>
          <p:cNvSpPr/>
          <p:nvPr/>
        </p:nvSpPr>
        <p:spPr>
          <a:xfrm>
            <a:off x="438912" y="5340096"/>
            <a:ext cx="11356848" cy="475488"/>
          </a:xfrm>
          <a:prstGeom prst="rect">
            <a:avLst/>
          </a:prstGeom>
          <a:solidFill>
            <a:srgbClr val="1630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TextBox 22"/>
          <p:cNvSpPr txBox="1"/>
          <p:nvPr/>
        </p:nvSpPr>
        <p:spPr>
          <a:xfrm>
            <a:off x="576071" y="5438841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Step 2 — Link prediction: find toxin-disease associations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3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09b</a:t>
            </a:r>
          </a:p>
        </p:txBody>
      </p:sp>
      <p:sp>
        <p:nvSpPr>
          <p:cNvPr id="654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Environmental Toxin-Disease Prediction</a:t>
            </a:r>
          </a:p>
        </p:txBody>
      </p:sp>
      <p:sp>
        <p:nvSpPr>
          <p:cNvPr id="655" name="Rectangle 5"/>
          <p:cNvSpPr/>
          <p:nvPr/>
        </p:nvSpPr>
        <p:spPr>
          <a:xfrm>
            <a:off x="10118749" y="425195"/>
            <a:ext cx="179588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TextBox 6"/>
          <p:cNvSpPr txBox="1"/>
          <p:nvPr/>
        </p:nvSpPr>
        <p:spPr>
          <a:xfrm>
            <a:off x="10509826" y="502964"/>
            <a:ext cx="101372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Agmy et al., 2025</a:t>
            </a:r>
          </a:p>
        </p:txBody>
      </p:sp>
      <p:sp>
        <p:nvSpPr>
          <p:cNvPr id="657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8" name="TextBox 8"/>
          <p:cNvSpPr txBox="1"/>
          <p:nvPr/>
        </p:nvSpPr>
        <p:spPr>
          <a:xfrm>
            <a:off x="4114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MODELS COMPARED</a:t>
            </a:r>
          </a:p>
        </p:txBody>
      </p:sp>
      <p:sp>
        <p:nvSpPr>
          <p:cNvPr id="659" name="TextBox 9"/>
          <p:cNvSpPr txBox="1"/>
          <p:nvPr/>
        </p:nvSpPr>
        <p:spPr>
          <a:xfrm>
            <a:off x="411479" y="1746504"/>
            <a:ext cx="53035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8D0C0"/>
                </a:solidFill>
              </a:defRPr>
            </a:lvl1pPr>
          </a:lstStyle>
          <a:p>
            <a:pPr/>
            <a:r>
              <a:t>GAT  ·  R-GCN  ·  Enhanced GCN</a:t>
            </a:r>
          </a:p>
        </p:txBody>
      </p:sp>
      <p:sp>
        <p:nvSpPr>
          <p:cNvPr id="660" name="TextBox 10"/>
          <p:cNvSpPr txBox="1"/>
          <p:nvPr/>
        </p:nvSpPr>
        <p:spPr>
          <a:xfrm>
            <a:off x="411479" y="2322576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BEST RESULT</a:t>
            </a:r>
          </a:p>
        </p:txBody>
      </p:sp>
      <p:sp>
        <p:nvSpPr>
          <p:cNvPr id="661" name="Rectangle 11"/>
          <p:cNvSpPr/>
          <p:nvPr/>
        </p:nvSpPr>
        <p:spPr>
          <a:xfrm>
            <a:off x="365759" y="2633472"/>
            <a:ext cx="5394962" cy="777241"/>
          </a:xfrm>
          <a:prstGeom prst="rect">
            <a:avLst/>
          </a:prstGeom>
          <a:solidFill>
            <a:srgbClr val="242019"/>
          </a:solidFill>
          <a:ln w="1905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2" name="TextBox 12"/>
          <p:cNvSpPr txBox="1"/>
          <p:nvPr/>
        </p:nvSpPr>
        <p:spPr>
          <a:xfrm>
            <a:off x="548639" y="2829404"/>
            <a:ext cx="265735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100">
                <a:solidFill>
                  <a:srgbClr val="D8D0C0"/>
                </a:solidFill>
              </a:defRPr>
            </a:pPr>
            <a:r>
              <a:t>GAT: F1 =  </a:t>
            </a:r>
            <a:r>
              <a:rPr b="1" sz="2200">
                <a:solidFill>
                  <a:srgbClr val="5AB88A"/>
                </a:solidFill>
              </a:rPr>
              <a:t>0.975</a:t>
            </a:r>
            <a:r>
              <a:rPr>
                <a:solidFill>
                  <a:srgbClr val="9A9080"/>
                </a:solidFill>
              </a:rPr>
              <a:t>  Consistent across runs</a:t>
            </a:r>
          </a:p>
        </p:txBody>
      </p:sp>
      <p:sp>
        <p:nvSpPr>
          <p:cNvPr id="663" name="Rectangle 13"/>
          <p:cNvSpPr/>
          <p:nvPr/>
        </p:nvSpPr>
        <p:spPr>
          <a:xfrm>
            <a:off x="365759" y="3621023"/>
            <a:ext cx="5394962" cy="914401"/>
          </a:xfrm>
          <a:prstGeom prst="rect">
            <a:avLst/>
          </a:prstGeom>
          <a:solidFill>
            <a:srgbClr val="242019"/>
          </a:solidFill>
          <a:ln w="1270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4" name="TextBox 14"/>
          <p:cNvSpPr txBox="1"/>
          <p:nvPr/>
        </p:nvSpPr>
        <p:spPr>
          <a:xfrm>
            <a:off x="521207" y="3703320"/>
            <a:ext cx="50749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WHY GAT WORKED WELL</a:t>
            </a:r>
          </a:p>
        </p:txBody>
      </p:sp>
      <p:sp>
        <p:nvSpPr>
          <p:cNvPr id="665" name="TextBox 15"/>
          <p:cNvSpPr txBox="1"/>
          <p:nvPr/>
        </p:nvSpPr>
        <p:spPr>
          <a:xfrm>
            <a:off x="521207" y="3968496"/>
            <a:ext cx="507492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Attention helps the model focus on useful connections and reduce noisy ones</a:t>
            </a:r>
          </a:p>
        </p:txBody>
      </p:sp>
      <p:sp>
        <p:nvSpPr>
          <p:cNvPr id="666" name="Rectangle 16"/>
          <p:cNvSpPr/>
          <p:nvPr/>
        </p:nvSpPr>
        <p:spPr>
          <a:xfrm>
            <a:off x="365759" y="4745735"/>
            <a:ext cx="5394962" cy="914401"/>
          </a:xfrm>
          <a:prstGeom prst="rect">
            <a:avLst/>
          </a:prstGeom>
          <a:solidFill>
            <a:srgbClr val="242019"/>
          </a:solidFill>
          <a:ln w="1270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TextBox 17"/>
          <p:cNvSpPr txBox="1"/>
          <p:nvPr/>
        </p:nvSpPr>
        <p:spPr>
          <a:xfrm>
            <a:off x="521207" y="4828030"/>
            <a:ext cx="5074921" cy="272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200">
                <a:solidFill>
                  <a:srgbClr val="9A9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⚠ </a:t>
            </a:r>
            <a:r>
              <a:t>R-GCN WARNING</a:t>
            </a:r>
          </a:p>
        </p:txBody>
      </p:sp>
      <p:sp>
        <p:nvSpPr>
          <p:cNvPr id="668" name="TextBox 18"/>
          <p:cNvSpPr txBox="1"/>
          <p:nvPr/>
        </p:nvSpPr>
        <p:spPr>
          <a:xfrm>
            <a:off x="521207" y="5093206"/>
            <a:ext cx="50749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Overfit quickly on the multi-relational biomedical graph</a:t>
            </a:r>
          </a:p>
        </p:txBody>
      </p:sp>
      <p:sp>
        <p:nvSpPr>
          <p:cNvPr id="669" name="TextBox 19"/>
          <p:cNvSpPr txBox="1"/>
          <p:nvPr/>
        </p:nvSpPr>
        <p:spPr>
          <a:xfrm>
            <a:off x="6355079" y="1435608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WHAT MAKES THIS GRAPH DIFFERENT</a:t>
            </a:r>
          </a:p>
        </p:txBody>
      </p:sp>
      <p:sp>
        <p:nvSpPr>
          <p:cNvPr id="670" name="Rectangle 20"/>
          <p:cNvSpPr/>
          <p:nvPr/>
        </p:nvSpPr>
        <p:spPr>
          <a:xfrm>
            <a:off x="6309359" y="1746504"/>
            <a:ext cx="73153" cy="640081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1" name="Rectangle 21"/>
          <p:cNvSpPr/>
          <p:nvPr/>
        </p:nvSpPr>
        <p:spPr>
          <a:xfrm>
            <a:off x="6382511" y="1746504"/>
            <a:ext cx="5321810" cy="640081"/>
          </a:xfrm>
          <a:prstGeom prst="rect">
            <a:avLst/>
          </a:prstGeom>
          <a:solidFill>
            <a:srgbClr val="3822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TextBox 22"/>
          <p:cNvSpPr txBox="1"/>
          <p:nvPr/>
        </p:nvSpPr>
        <p:spPr>
          <a:xfrm>
            <a:off x="6519671" y="1813245"/>
            <a:ext cx="5029201" cy="50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Adds environmental exposure context beyond molecular interactions</a:t>
            </a:r>
          </a:p>
        </p:txBody>
      </p:sp>
      <p:sp>
        <p:nvSpPr>
          <p:cNvPr id="673" name="TextBox 23"/>
          <p:cNvSpPr txBox="1"/>
          <p:nvPr/>
        </p:nvSpPr>
        <p:spPr>
          <a:xfrm>
            <a:off x="6355079" y="2688335"/>
            <a:ext cx="9052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9A9080"/>
                </a:solidFill>
              </a:defRPr>
            </a:lvl1pPr>
          </a:lstStyle>
          <a:p>
            <a:pPr/>
            <a:r>
              <a:t>MAIN TAKEAWAY</a:t>
            </a:r>
          </a:p>
        </p:txBody>
      </p:sp>
      <p:sp>
        <p:nvSpPr>
          <p:cNvPr id="674" name="Rectangle 24"/>
          <p:cNvSpPr/>
          <p:nvPr/>
        </p:nvSpPr>
        <p:spPr>
          <a:xfrm>
            <a:off x="6309359" y="2999232"/>
            <a:ext cx="73153" cy="640081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5" name="Rectangle 25"/>
          <p:cNvSpPr/>
          <p:nvPr/>
        </p:nvSpPr>
        <p:spPr>
          <a:xfrm>
            <a:off x="6382511" y="2999232"/>
            <a:ext cx="5321810" cy="640081"/>
          </a:xfrm>
          <a:prstGeom prst="rect">
            <a:avLst/>
          </a:prstGeom>
          <a:solidFill>
            <a:srgbClr val="1628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TextBox 26"/>
          <p:cNvSpPr txBox="1"/>
          <p:nvPr/>
        </p:nvSpPr>
        <p:spPr>
          <a:xfrm>
            <a:off x="6519671" y="3065974"/>
            <a:ext cx="502920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Graph design matters: what we include can shape what the model learns</a:t>
            </a:r>
          </a:p>
        </p:txBody>
      </p:sp>
      <p:sp>
        <p:nvSpPr>
          <p:cNvPr id="677" name="Rectangle 27"/>
          <p:cNvSpPr/>
          <p:nvPr/>
        </p:nvSpPr>
        <p:spPr>
          <a:xfrm>
            <a:off x="6309359" y="3785615"/>
            <a:ext cx="73153" cy="640081"/>
          </a:xfrm>
          <a:prstGeom prst="rect">
            <a:avLst/>
          </a:prstGeom>
          <a:solidFill>
            <a:srgbClr val="5AB88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8" name="Rectangle 28"/>
          <p:cNvSpPr/>
          <p:nvPr/>
        </p:nvSpPr>
        <p:spPr>
          <a:xfrm>
            <a:off x="6382511" y="3785615"/>
            <a:ext cx="5321810" cy="640081"/>
          </a:xfrm>
          <a:prstGeom prst="rect">
            <a:avLst/>
          </a:prstGeom>
          <a:solidFill>
            <a:srgbClr val="1630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9" name="TextBox 29"/>
          <p:cNvSpPr txBox="1"/>
          <p:nvPr/>
        </p:nvSpPr>
        <p:spPr>
          <a:xfrm>
            <a:off x="6519671" y="3852357"/>
            <a:ext cx="5029201" cy="50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Richer graphs can be more informative, but they can also add noise and increase overfitting risk</a:t>
            </a:r>
          </a:p>
        </p:txBody>
      </p:sp>
      <p:sp>
        <p:nvSpPr>
          <p:cNvPr id="680" name="Rectangle 30"/>
          <p:cNvSpPr/>
          <p:nvPr/>
        </p:nvSpPr>
        <p:spPr>
          <a:xfrm>
            <a:off x="5989320" y="1325880"/>
            <a:ext cx="12701" cy="530352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5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6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87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 Graph-Based AI in Drug Discovery</a:t>
            </a:r>
          </a:p>
        </p:txBody>
      </p:sp>
      <p:sp>
        <p:nvSpPr>
          <p:cNvPr id="688" name="Rectangle 5"/>
          <p:cNvSpPr/>
          <p:nvPr/>
        </p:nvSpPr>
        <p:spPr>
          <a:xfrm>
            <a:off x="10202874" y="425195"/>
            <a:ext cx="1711757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9" name="TextBox 6"/>
          <p:cNvSpPr txBox="1"/>
          <p:nvPr/>
        </p:nvSpPr>
        <p:spPr>
          <a:xfrm>
            <a:off x="10595576" y="502964"/>
            <a:ext cx="92635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Han et al., 2024</a:t>
            </a:r>
          </a:p>
        </p:txBody>
      </p:sp>
      <p:sp>
        <p:nvSpPr>
          <p:cNvPr id="690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1" name="Rectangle 8"/>
          <p:cNvSpPr/>
          <p:nvPr/>
        </p:nvSpPr>
        <p:spPr>
          <a:xfrm>
            <a:off x="365759" y="1801367"/>
            <a:ext cx="11430001" cy="1188721"/>
          </a:xfrm>
          <a:prstGeom prst="rect">
            <a:avLst/>
          </a:prstGeom>
          <a:solidFill>
            <a:srgbClr val="242019"/>
          </a:solidFill>
          <a:ln w="1270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2" name="TextBox 9"/>
          <p:cNvSpPr txBox="1"/>
          <p:nvPr/>
        </p:nvSpPr>
        <p:spPr>
          <a:xfrm>
            <a:off x="521207" y="1883664"/>
            <a:ext cx="111099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ASTRAZENECA</a:t>
            </a:r>
          </a:p>
        </p:txBody>
      </p:sp>
      <p:sp>
        <p:nvSpPr>
          <p:cNvPr id="693" name="TextBox 10"/>
          <p:cNvSpPr txBox="1"/>
          <p:nvPr/>
        </p:nvSpPr>
        <p:spPr>
          <a:xfrm>
            <a:off x="521207" y="2148839"/>
            <a:ext cx="1110996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Large pharmaceutical company using AI in drug discovery</a:t>
            </a:r>
          </a:p>
        </p:txBody>
      </p:sp>
      <p:sp>
        <p:nvSpPr>
          <p:cNvPr id="694" name="TextBox 11"/>
          <p:cNvSpPr txBox="1"/>
          <p:nvPr/>
        </p:nvSpPr>
        <p:spPr>
          <a:xfrm>
            <a:off x="521207" y="2551176"/>
            <a:ext cx="111099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D8D0C0"/>
                </a:solidFill>
              </a:defRPr>
            </a:lvl1pPr>
          </a:lstStyle>
          <a:p>
            <a:pPr/>
            <a:r>
              <a:t>Describes GNNs as one method for mining these graphs and supporting target prediction</a:t>
            </a:r>
          </a:p>
        </p:txBody>
      </p:sp>
      <p:sp>
        <p:nvSpPr>
          <p:cNvPr id="695" name="Rectangle 12"/>
          <p:cNvSpPr/>
          <p:nvPr/>
        </p:nvSpPr>
        <p:spPr>
          <a:xfrm>
            <a:off x="365759" y="3200400"/>
            <a:ext cx="11430001" cy="1188720"/>
          </a:xfrm>
          <a:prstGeom prst="rect">
            <a:avLst/>
          </a:prstGeom>
          <a:solidFill>
            <a:srgbClr val="242019"/>
          </a:solidFill>
          <a:ln w="1270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6" name="TextBox 13"/>
          <p:cNvSpPr txBox="1"/>
          <p:nvPr/>
        </p:nvSpPr>
        <p:spPr>
          <a:xfrm>
            <a:off x="521207" y="3282696"/>
            <a:ext cx="111099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STANDIGM ASK</a:t>
            </a:r>
          </a:p>
        </p:txBody>
      </p:sp>
      <p:sp>
        <p:nvSpPr>
          <p:cNvPr id="697" name="TextBox 14"/>
          <p:cNvSpPr txBox="1"/>
          <p:nvPr/>
        </p:nvSpPr>
        <p:spPr>
          <a:xfrm>
            <a:off x="521207" y="3547871"/>
            <a:ext cx="11109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AI drug discovery platform from Standigm</a:t>
            </a:r>
          </a:p>
        </p:txBody>
      </p:sp>
      <p:sp>
        <p:nvSpPr>
          <p:cNvPr id="698" name="TextBox 15"/>
          <p:cNvSpPr txBox="1"/>
          <p:nvPr/>
        </p:nvSpPr>
        <p:spPr>
          <a:xfrm>
            <a:off x="521207" y="3950208"/>
            <a:ext cx="111099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D8D0C0"/>
                </a:solidFill>
              </a:defRPr>
            </a:lvl1pPr>
          </a:lstStyle>
          <a:p>
            <a:pPr/>
            <a:r>
              <a:t>Combines a biomedical knowledge graph with a neural network for target discovery</a:t>
            </a:r>
          </a:p>
        </p:txBody>
      </p:sp>
      <p:sp>
        <p:nvSpPr>
          <p:cNvPr id="699" name="Rectangle 16"/>
          <p:cNvSpPr/>
          <p:nvPr/>
        </p:nvSpPr>
        <p:spPr>
          <a:xfrm>
            <a:off x="365759" y="4690871"/>
            <a:ext cx="73153" cy="640081"/>
          </a:xfrm>
          <a:prstGeom prst="rect">
            <a:avLst/>
          </a:prstGeom>
          <a:solidFill>
            <a:srgbClr val="E884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0" name="Rectangle 17"/>
          <p:cNvSpPr/>
          <p:nvPr/>
        </p:nvSpPr>
        <p:spPr>
          <a:xfrm>
            <a:off x="438912" y="4690871"/>
            <a:ext cx="11356848" cy="640081"/>
          </a:xfrm>
          <a:prstGeom prst="rect">
            <a:avLst/>
          </a:prstGeom>
          <a:solidFill>
            <a:srgbClr val="3822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1" name="TextBox 18"/>
          <p:cNvSpPr txBox="1"/>
          <p:nvPr/>
        </p:nvSpPr>
        <p:spPr>
          <a:xfrm>
            <a:off x="576071" y="4871913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Graph-based AI supports relationship discovery and target prioritization, not direct clinical decision-making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7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08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Future Directions</a:t>
            </a:r>
          </a:p>
        </p:txBody>
      </p:sp>
      <p:sp>
        <p:nvSpPr>
          <p:cNvPr id="709" name="Rectangle 5"/>
          <p:cNvSpPr/>
          <p:nvPr/>
        </p:nvSpPr>
        <p:spPr>
          <a:xfrm>
            <a:off x="8439911" y="425195"/>
            <a:ext cx="347472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0" name="TextBox 6"/>
          <p:cNvSpPr txBox="1"/>
          <p:nvPr/>
        </p:nvSpPr>
        <p:spPr>
          <a:xfrm>
            <a:off x="9125882" y="502964"/>
            <a:ext cx="210277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Elsoud 2025 · Lv 2025 · Selvarasu 2025</a:t>
            </a:r>
          </a:p>
        </p:txBody>
      </p:sp>
      <p:sp>
        <p:nvSpPr>
          <p:cNvPr id="711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2" name="Rectangle 8"/>
          <p:cNvSpPr/>
          <p:nvPr/>
        </p:nvSpPr>
        <p:spPr>
          <a:xfrm>
            <a:off x="365759" y="1801367"/>
            <a:ext cx="11430001" cy="914401"/>
          </a:xfrm>
          <a:prstGeom prst="rect">
            <a:avLst/>
          </a:prstGeom>
          <a:solidFill>
            <a:srgbClr val="242019"/>
          </a:solidFill>
          <a:ln w="1270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3" name="TextBox 9"/>
          <p:cNvSpPr txBox="1"/>
          <p:nvPr/>
        </p:nvSpPr>
        <p:spPr>
          <a:xfrm>
            <a:off x="521207" y="1883664"/>
            <a:ext cx="111099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1 · EXPAND PREDICTION DOMAINS</a:t>
            </a:r>
          </a:p>
        </p:txBody>
      </p:sp>
      <p:sp>
        <p:nvSpPr>
          <p:cNvPr id="714" name="TextBox 10"/>
          <p:cNvSpPr txBox="1"/>
          <p:nvPr/>
        </p:nvSpPr>
        <p:spPr>
          <a:xfrm>
            <a:off x="521207" y="2148839"/>
            <a:ext cx="1110996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Richer knowledge graphs can help study new biomedical relationships beyond drug-disease, gene-disease, and drug-target links</a:t>
            </a:r>
          </a:p>
        </p:txBody>
      </p:sp>
      <p:sp>
        <p:nvSpPr>
          <p:cNvPr id="715" name="Rectangle 11"/>
          <p:cNvSpPr/>
          <p:nvPr/>
        </p:nvSpPr>
        <p:spPr>
          <a:xfrm>
            <a:off x="365759" y="2926079"/>
            <a:ext cx="11430001" cy="914401"/>
          </a:xfrm>
          <a:prstGeom prst="rect">
            <a:avLst/>
          </a:prstGeom>
          <a:solidFill>
            <a:srgbClr val="242019"/>
          </a:solidFill>
          <a:ln w="1270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6" name="TextBox 12"/>
          <p:cNvSpPr txBox="1"/>
          <p:nvPr/>
        </p:nvSpPr>
        <p:spPr>
          <a:xfrm>
            <a:off x="521207" y="3008376"/>
            <a:ext cx="111099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2 · AI-ASSISTED DISCOVERY PIPELINES</a:t>
            </a:r>
          </a:p>
        </p:txBody>
      </p:sp>
      <p:sp>
        <p:nvSpPr>
          <p:cNvPr id="717" name="TextBox 13"/>
          <p:cNvSpPr txBox="1"/>
          <p:nvPr/>
        </p:nvSpPr>
        <p:spPr>
          <a:xfrm>
            <a:off x="521207" y="3273552"/>
            <a:ext cx="11109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Use AI systems to rank predicted relationships and prioritize candidates for screening and validation</a:t>
            </a:r>
          </a:p>
        </p:txBody>
      </p:sp>
      <p:sp>
        <p:nvSpPr>
          <p:cNvPr id="718" name="Rectangle 14"/>
          <p:cNvSpPr/>
          <p:nvPr/>
        </p:nvSpPr>
        <p:spPr>
          <a:xfrm>
            <a:off x="365759" y="4050791"/>
            <a:ext cx="11430001" cy="914401"/>
          </a:xfrm>
          <a:prstGeom prst="rect">
            <a:avLst/>
          </a:prstGeom>
          <a:solidFill>
            <a:srgbClr val="242019"/>
          </a:solidFill>
          <a:ln w="1270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9" name="TextBox 15"/>
          <p:cNvSpPr txBox="1"/>
          <p:nvPr/>
        </p:nvSpPr>
        <p:spPr>
          <a:xfrm>
            <a:off x="521207" y="4133086"/>
            <a:ext cx="11109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3 · PATIENT-SPECIFIC TREATMENT DECISIONS</a:t>
            </a:r>
          </a:p>
        </p:txBody>
      </p:sp>
      <p:sp>
        <p:nvSpPr>
          <p:cNvPr id="720" name="TextBox 16"/>
          <p:cNvSpPr txBox="1"/>
          <p:nvPr/>
        </p:nvSpPr>
        <p:spPr>
          <a:xfrm>
            <a:off x="521207" y="4398264"/>
            <a:ext cx="11109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Use patient information to help choose better drug candidates, doses, and treatment strategies</a:t>
            </a:r>
          </a:p>
        </p:txBody>
      </p:sp>
      <p:sp>
        <p:nvSpPr>
          <p:cNvPr id="721" name="Rectangle 17"/>
          <p:cNvSpPr/>
          <p:nvPr/>
        </p:nvSpPr>
        <p:spPr>
          <a:xfrm>
            <a:off x="365759" y="5266944"/>
            <a:ext cx="73153" cy="475488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2" name="Rectangle 18"/>
          <p:cNvSpPr/>
          <p:nvPr/>
        </p:nvSpPr>
        <p:spPr>
          <a:xfrm>
            <a:off x="438912" y="5266944"/>
            <a:ext cx="11356848" cy="475488"/>
          </a:xfrm>
          <a:prstGeom prst="rect">
            <a:avLst/>
          </a:prstGeom>
          <a:solidFill>
            <a:srgbClr val="1628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3" name="TextBox 19"/>
          <p:cNvSpPr txBox="1"/>
          <p:nvPr/>
        </p:nvSpPr>
        <p:spPr>
          <a:xfrm>
            <a:off x="576071" y="5365689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Overall direction: broader relationships, better discovery pipelines, and more patient-specific decisions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9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30" name="TextBox 4"/>
          <p:cNvSpPr txBox="1"/>
          <p:nvPr/>
        </p:nvSpPr>
        <p:spPr>
          <a:xfrm>
            <a:off x="1097280" y="365759"/>
            <a:ext cx="9052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Ethical Considerations</a:t>
            </a:r>
          </a:p>
        </p:txBody>
      </p:sp>
      <p:sp>
        <p:nvSpPr>
          <p:cNvPr id="731" name="Rectangle 5"/>
          <p:cNvSpPr/>
          <p:nvPr/>
        </p:nvSpPr>
        <p:spPr>
          <a:xfrm>
            <a:off x="8439911" y="425195"/>
            <a:ext cx="3474722" cy="384049"/>
          </a:xfrm>
          <a:prstGeom prst="rect">
            <a:avLst/>
          </a:prstGeom>
          <a:solidFill>
            <a:srgbClr val="382216"/>
          </a:solidFill>
          <a:ln w="1524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2" name="TextBox 6"/>
          <p:cNvSpPr txBox="1"/>
          <p:nvPr/>
        </p:nvSpPr>
        <p:spPr>
          <a:xfrm>
            <a:off x="9107062" y="502964"/>
            <a:ext cx="214042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b="1" sz="1000">
                <a:solidFill>
                  <a:srgbClr val="E8845A"/>
                </a:solidFill>
              </a:defRPr>
            </a:lvl1pPr>
          </a:lstStyle>
          <a:p>
            <a:pPr/>
            <a:r>
              <a:t>Devi 2022 · Joshi 2025 · Selvarasu 2025</a:t>
            </a:r>
          </a:p>
        </p:txBody>
      </p:sp>
      <p:sp>
        <p:nvSpPr>
          <p:cNvPr id="733" name="Rectangle 7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4" name="Rectangle 8"/>
          <p:cNvSpPr/>
          <p:nvPr/>
        </p:nvSpPr>
        <p:spPr>
          <a:xfrm>
            <a:off x="365759" y="1801367"/>
            <a:ext cx="11430001" cy="914401"/>
          </a:xfrm>
          <a:prstGeom prst="rect">
            <a:avLst/>
          </a:prstGeom>
          <a:solidFill>
            <a:srgbClr val="242019"/>
          </a:solidFill>
          <a:ln w="12700">
            <a:solidFill>
              <a:srgbClr val="E8845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5" name="TextBox 9"/>
          <p:cNvSpPr txBox="1"/>
          <p:nvPr/>
        </p:nvSpPr>
        <p:spPr>
          <a:xfrm>
            <a:off x="521207" y="1883664"/>
            <a:ext cx="111099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1 · PRIVACY AND CONSENT</a:t>
            </a:r>
          </a:p>
        </p:txBody>
      </p:sp>
      <p:sp>
        <p:nvSpPr>
          <p:cNvPr id="736" name="TextBox 10"/>
          <p:cNvSpPr txBox="1"/>
          <p:nvPr/>
        </p:nvSpPr>
        <p:spPr>
          <a:xfrm>
            <a:off x="521207" y="2148839"/>
            <a:ext cx="1110996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Models may use clinical records, genomic data, or patient information that require strong privacy protection</a:t>
            </a:r>
          </a:p>
        </p:txBody>
      </p:sp>
      <p:sp>
        <p:nvSpPr>
          <p:cNvPr id="737" name="Rectangle 11"/>
          <p:cNvSpPr/>
          <p:nvPr/>
        </p:nvSpPr>
        <p:spPr>
          <a:xfrm>
            <a:off x="365759" y="2926079"/>
            <a:ext cx="11430001" cy="914401"/>
          </a:xfrm>
          <a:prstGeom prst="rect">
            <a:avLst/>
          </a:prstGeom>
          <a:solidFill>
            <a:srgbClr val="242019"/>
          </a:solidFill>
          <a:ln w="12700">
            <a:solidFill>
              <a:srgbClr val="6AA3D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8" name="TextBox 12"/>
          <p:cNvSpPr txBox="1"/>
          <p:nvPr/>
        </p:nvSpPr>
        <p:spPr>
          <a:xfrm>
            <a:off x="521207" y="3008376"/>
            <a:ext cx="111099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2 · BIAS AND FAIRNESS</a:t>
            </a:r>
          </a:p>
        </p:txBody>
      </p:sp>
      <p:sp>
        <p:nvSpPr>
          <p:cNvPr id="739" name="TextBox 13"/>
          <p:cNvSpPr txBox="1"/>
          <p:nvPr/>
        </p:nvSpPr>
        <p:spPr>
          <a:xfrm>
            <a:off x="521207" y="3273552"/>
            <a:ext cx="11109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Incomplete biomedical data can underrepresent rare diseases, less-studied conditions, or certain patient groups</a:t>
            </a:r>
          </a:p>
        </p:txBody>
      </p:sp>
      <p:sp>
        <p:nvSpPr>
          <p:cNvPr id="740" name="Rectangle 14"/>
          <p:cNvSpPr/>
          <p:nvPr/>
        </p:nvSpPr>
        <p:spPr>
          <a:xfrm>
            <a:off x="365759" y="4050791"/>
            <a:ext cx="11430001" cy="914401"/>
          </a:xfrm>
          <a:prstGeom prst="rect">
            <a:avLst/>
          </a:prstGeom>
          <a:solidFill>
            <a:srgbClr val="242019"/>
          </a:solidFill>
          <a:ln w="12700">
            <a:solidFill>
              <a:srgbClr val="5AB88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1" name="TextBox 15"/>
          <p:cNvSpPr txBox="1"/>
          <p:nvPr/>
        </p:nvSpPr>
        <p:spPr>
          <a:xfrm>
            <a:off x="521207" y="4133086"/>
            <a:ext cx="11109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9A9080"/>
                </a:solidFill>
              </a:defRPr>
            </a:lvl1pPr>
          </a:lstStyle>
          <a:p>
            <a:pPr/>
            <a:r>
              <a:t>3 · TRANSPARENCY AND HUMAN OVERSIGHT</a:t>
            </a:r>
          </a:p>
        </p:txBody>
      </p:sp>
      <p:sp>
        <p:nvSpPr>
          <p:cNvPr id="742" name="TextBox 16"/>
          <p:cNvSpPr txBox="1"/>
          <p:nvPr/>
        </p:nvSpPr>
        <p:spPr>
          <a:xfrm>
            <a:off x="521207" y="4398264"/>
            <a:ext cx="111099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Researchers and clinicians need to understand why a relationship is predicted before using it to guide decisions</a:t>
            </a:r>
          </a:p>
        </p:txBody>
      </p:sp>
      <p:sp>
        <p:nvSpPr>
          <p:cNvPr id="743" name="Rectangle 17"/>
          <p:cNvSpPr/>
          <p:nvPr/>
        </p:nvSpPr>
        <p:spPr>
          <a:xfrm>
            <a:off x="365759" y="5266944"/>
            <a:ext cx="73153" cy="475488"/>
          </a:xfrm>
          <a:prstGeom prst="rect">
            <a:avLst/>
          </a:prstGeom>
          <a:solidFill>
            <a:srgbClr val="6AA3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4" name="Rectangle 18"/>
          <p:cNvSpPr/>
          <p:nvPr/>
        </p:nvSpPr>
        <p:spPr>
          <a:xfrm>
            <a:off x="438912" y="5266944"/>
            <a:ext cx="11356848" cy="475488"/>
          </a:xfrm>
          <a:prstGeom prst="rect">
            <a:avLst/>
          </a:prstGeom>
          <a:solidFill>
            <a:srgbClr val="1628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TextBox 19"/>
          <p:cNvSpPr txBox="1"/>
          <p:nvPr/>
        </p:nvSpPr>
        <p:spPr>
          <a:xfrm>
            <a:off x="576071" y="5365689"/>
            <a:ext cx="1106424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0EBE0"/>
                </a:solidFill>
              </a:defRPr>
            </a:lvl1pPr>
          </a:lstStyle>
          <a:p>
            <a:pPr/>
            <a:r>
              <a:t>Ethical use means protecting data, checking bias, and keeping experts involved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17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0" name="Rectangle 2"/>
          <p:cNvSpPr/>
          <p:nvPr/>
        </p:nvSpPr>
        <p:spPr>
          <a:xfrm>
            <a:off x="-1" y="-1"/>
            <a:ext cx="12188954" cy="1234442"/>
          </a:xfrm>
          <a:prstGeom prst="rect">
            <a:avLst/>
          </a:prstGeom>
          <a:solidFill>
            <a:srgbClr val="24201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1" name="TextBox 3"/>
          <p:cNvSpPr txBox="1"/>
          <p:nvPr/>
        </p:nvSpPr>
        <p:spPr>
          <a:xfrm>
            <a:off x="393191" y="457200"/>
            <a:ext cx="7315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E8845A"/>
                </a:solidFill>
              </a:defRPr>
            </a:lvl1pPr>
          </a:lstStyle>
          <a:p>
            <a:pPr/>
            <a:r>
              <a:t>Ref</a:t>
            </a:r>
          </a:p>
        </p:txBody>
      </p:sp>
      <p:sp>
        <p:nvSpPr>
          <p:cNvPr id="752" name="TextBox 4"/>
          <p:cNvSpPr txBox="1"/>
          <p:nvPr/>
        </p:nvSpPr>
        <p:spPr>
          <a:xfrm>
            <a:off x="1097280" y="365759"/>
            <a:ext cx="11338560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0EBE0"/>
                </a:solidFill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753" name="Rectangle 5"/>
          <p:cNvSpPr/>
          <p:nvPr/>
        </p:nvSpPr>
        <p:spPr>
          <a:xfrm>
            <a:off x="-1" y="1234439"/>
            <a:ext cx="12188954" cy="1270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4" name="TextBox 6"/>
          <p:cNvSpPr txBox="1"/>
          <p:nvPr/>
        </p:nvSpPr>
        <p:spPr>
          <a:xfrm>
            <a:off x="320039" y="1435608"/>
            <a:ext cx="5532122" cy="419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J, S. G., Devi, P. D., &amp; Ezhumalai, P. (2022). </a:t>
            </a:r>
            <a:r>
              <a:rPr b="0" sz="900">
                <a:solidFill>
                  <a:srgbClr val="9A9080"/>
                </a:solidFill>
              </a:rPr>
              <a:t>Impact of machine and deep learning in drug repurposing. 2022 5th International Conference on Contemporary Computing and Informatics (IC3I), 2154–2158. https://doi.org/10.1109/IC3I56241.2022.10072574</a:t>
            </a:r>
          </a:p>
        </p:txBody>
      </p:sp>
      <p:sp>
        <p:nvSpPr>
          <p:cNvPr id="755" name="TextBox 7"/>
          <p:cNvSpPr txBox="1"/>
          <p:nvPr/>
        </p:nvSpPr>
        <p:spPr>
          <a:xfrm>
            <a:off x="320039" y="2194560"/>
            <a:ext cx="5532122" cy="419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Joshi, N., Joshi, H., Wadhwa, R., Joshi, N., Dhaundhiyal, K., &amp; Gwasikoti, J. (2025). </a:t>
            </a:r>
            <a:r>
              <a:rPr b="0" sz="900">
                <a:solidFill>
                  <a:srgbClr val="9A9080"/>
                </a:solidFill>
              </a:rPr>
              <a:t>”the intersection of ai and medicine: Exploring the future of drug repurposing”. 2025 7th International Conference on Artificial Intelligence and Speech Technology (AIST), 1–6. https://doi.org/10.1109/AIST68591.2025.11441376</a:t>
            </a:r>
          </a:p>
        </p:txBody>
      </p:sp>
      <p:sp>
        <p:nvSpPr>
          <p:cNvPr id="756" name="TextBox 8"/>
          <p:cNvSpPr txBox="1"/>
          <p:nvPr/>
        </p:nvSpPr>
        <p:spPr>
          <a:xfrm>
            <a:off x="320039" y="2953511"/>
            <a:ext cx="5532122" cy="419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Hu, J., Bewong, M., Kwashie, S., Zhang, W., Zhang, H.-Y., &amp; Feng, Z. (2025). </a:t>
            </a:r>
            <a:r>
              <a:rPr b="0" sz="900">
                <a:solidFill>
                  <a:srgbClr val="9A9080"/>
                </a:solidFill>
              </a:rPr>
              <a:t>Hetero-geneous graph neural networks for link prediction in biomedical networks. Bioinformatics Advances, 5(1), vbaf187. https://doi.org/10.1093/bioadv/vbaf187</a:t>
            </a:r>
          </a:p>
        </p:txBody>
      </p:sp>
      <p:sp>
        <p:nvSpPr>
          <p:cNvPr id="757" name="TextBox 9"/>
          <p:cNvSpPr txBox="1"/>
          <p:nvPr/>
        </p:nvSpPr>
        <p:spPr>
          <a:xfrm>
            <a:off x="320039" y="3712462"/>
            <a:ext cx="5532122" cy="584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Xiao, Y., Hou, Y., Zhou, H., Diallo, G., Fiszman, M., Wolfson, J., Kilicoglu, H., Chen, Y., Xu, H., Mantyh, W. G., &amp; Zhang, R. (2023).  </a:t>
            </a:r>
            <a:r>
              <a:rPr b="0" sz="900">
                <a:solidFill>
                  <a:srgbClr val="9A9080"/>
                </a:solidFill>
              </a:rPr>
              <a:t>Repurposing drugs for alzheimer’s diseases through link prediction on biomedical literature. 2023 IEEE 11th International Conference on Healthcare Informatics (ICHI), 750–752. https://doi.org/10.1109/ICHI57859.2023.00137</a:t>
            </a:r>
          </a:p>
        </p:txBody>
      </p:sp>
      <p:sp>
        <p:nvSpPr>
          <p:cNvPr id="758" name="TextBox 10"/>
          <p:cNvSpPr txBox="1"/>
          <p:nvPr/>
        </p:nvSpPr>
        <p:spPr>
          <a:xfrm>
            <a:off x="320039" y="4471415"/>
            <a:ext cx="5532122" cy="419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Mythili, R., &amp; Parthiban, N. (2023). </a:t>
            </a:r>
            <a:r>
              <a:rPr b="0" sz="900">
                <a:solidFill>
                  <a:srgbClr val="9A9080"/>
                </a:solidFill>
              </a:rPr>
              <a:t>Link prediction of biomedical data using hetrosim gcn-gat. 2023 International Conference on Innovative Computing, Intelligent Communication and Smart Electrical Systems (ICSES), 1–5. https://doi.org/10.1109/ICSES60034.2023.10465478</a:t>
            </a:r>
          </a:p>
        </p:txBody>
      </p:sp>
      <p:sp>
        <p:nvSpPr>
          <p:cNvPr id="759" name="TextBox 11"/>
          <p:cNvSpPr txBox="1"/>
          <p:nvPr/>
        </p:nvSpPr>
        <p:spPr>
          <a:xfrm>
            <a:off x="320039" y="5230367"/>
            <a:ext cx="5532122" cy="419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Artiñano-Muñoz, R., Prieto-Santamaría, L., Pérez-Pérez, A., &amp; Rodríguez-González, A.(2024). </a:t>
            </a:r>
            <a:r>
              <a:rPr b="0" sz="900">
                <a:solidFill>
                  <a:srgbClr val="9A9080"/>
                </a:solidFill>
              </a:rPr>
              <a:t>Dragon: Drug repurposing via graph neural networks with drug and protein embeddings as features. 2024 IEEE 37th International Symposium on Computer-Based Medical Systems (CBMS), 170–175. https://doi.org/10.1109/CBMS61543.2024.00036</a:t>
            </a:r>
          </a:p>
        </p:txBody>
      </p:sp>
      <p:sp>
        <p:nvSpPr>
          <p:cNvPr id="760" name="TextBox 12"/>
          <p:cNvSpPr txBox="1"/>
          <p:nvPr/>
        </p:nvSpPr>
        <p:spPr>
          <a:xfrm>
            <a:off x="320039" y="5989320"/>
            <a:ext cx="5532122" cy="419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Xu, P., Wei, Z., Li, C., Yuan, J., Liu, Z., &amp; Liu, W. (2024). </a:t>
            </a:r>
            <a:r>
              <a:rPr b="0" sz="900">
                <a:solidFill>
                  <a:srgbClr val="9A9080"/>
                </a:solidFill>
              </a:rPr>
              <a:t>Drug-target prediction based on dynamic heterogeneous graph convolutional network. IEEE Journal of Biomedical and Health Informatics, 28(11), 6997–7005. https://doi.org/10.1109/JBHI.2024.3441324</a:t>
            </a:r>
          </a:p>
        </p:txBody>
      </p:sp>
      <p:sp>
        <p:nvSpPr>
          <p:cNvPr id="761" name="TextBox 13"/>
          <p:cNvSpPr txBox="1"/>
          <p:nvPr/>
        </p:nvSpPr>
        <p:spPr>
          <a:xfrm>
            <a:off x="6263640" y="1435608"/>
            <a:ext cx="5532121" cy="419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Zhou, T., Glanz, Z., Liu, M., Bian, J., Yin, R., &amp; Gao, H. (2023). </a:t>
            </a:r>
            <a:r>
              <a:rPr b="0" sz="900">
                <a:solidFill>
                  <a:srgbClr val="9A9080"/>
                </a:solidFill>
              </a:rPr>
              <a:t>Hselda: Heterogeneous sub-graph learning for lncrna-disease associations prediction. 2023 IEEE International Conference on Bioinformatics and Biomedicine (BIBM), 1798–1805. https://doi.org/10.1109/BIBM58861.2023.10385718</a:t>
            </a:r>
          </a:p>
        </p:txBody>
      </p:sp>
      <p:sp>
        <p:nvSpPr>
          <p:cNvPr id="762" name="TextBox 14"/>
          <p:cNvSpPr txBox="1"/>
          <p:nvPr/>
        </p:nvSpPr>
        <p:spPr>
          <a:xfrm>
            <a:off x="6263640" y="2194560"/>
            <a:ext cx="5532121" cy="558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Agmy, R. G., Soliman, T. H. A., Agmy, A. G., Yassa, H. A., &amp; Abdelreheim, M. H. (2025). </a:t>
            </a:r>
            <a:r>
              <a:rPr b="0" sz="900">
                <a:solidFill>
                  <a:srgbClr val="9A9080"/>
                </a:solidFill>
              </a:rPr>
              <a:t>Integrating environmental toxins into biomedical knowledge graphs for disease prediction using graph neural networks. 2025 Twelfth International Conference on Intelligent Computing and Information Systems (ICICIS), 575–582. https://doi.org/10.1109/ICICIS66182.2025.11313180</a:t>
            </a:r>
          </a:p>
        </p:txBody>
      </p:sp>
      <p:sp>
        <p:nvSpPr>
          <p:cNvPr id="763" name="TextBox 15"/>
          <p:cNvSpPr txBox="1"/>
          <p:nvPr/>
        </p:nvSpPr>
        <p:spPr>
          <a:xfrm>
            <a:off x="6263640" y="2953511"/>
            <a:ext cx="5532121" cy="419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Elsoud, A. A., Mounir, M., Gad, W., &amp; Badr, N. (2025). </a:t>
            </a:r>
            <a:r>
              <a:rPr b="0" sz="900">
                <a:solidFill>
                  <a:srgbClr val="9A9080"/>
                </a:solidFill>
              </a:rPr>
              <a:t>Survey on deep learning methods in drug repurposing. 2025 Twelfth International Conference on Intelligent Computing and Information Systems (ICICIS), 605–613. https://doi.org/10.1109/ICICIS66182.2025.11313173</a:t>
            </a:r>
          </a:p>
        </p:txBody>
      </p:sp>
      <p:sp>
        <p:nvSpPr>
          <p:cNvPr id="764" name="TextBox 16"/>
          <p:cNvSpPr txBox="1"/>
          <p:nvPr/>
        </p:nvSpPr>
        <p:spPr>
          <a:xfrm>
            <a:off x="6263640" y="3712462"/>
            <a:ext cx="5532121" cy="419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L V, N., &amp; K, D. (2025). </a:t>
            </a:r>
            <a:r>
              <a:rPr b="0" sz="900">
                <a:solidFill>
                  <a:srgbClr val="9A9080"/>
                </a:solidFill>
              </a:rPr>
              <a:t>Computational frameworks for antiviral drug discovery: A comparative review of integrative models. 2025 OITS International Conference on Information Technology (OCIT), 707–713. https://doi.org/10.1109/OCIT66168.2025.11400441</a:t>
            </a:r>
          </a:p>
        </p:txBody>
      </p:sp>
      <p:sp>
        <p:nvSpPr>
          <p:cNvPr id="765" name="TextBox 17"/>
          <p:cNvSpPr txBox="1"/>
          <p:nvPr/>
        </p:nvSpPr>
        <p:spPr>
          <a:xfrm>
            <a:off x="6263640" y="4471415"/>
            <a:ext cx="5532121" cy="558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Selvarasu, B., &amp; Ingole, N. A. (2025). </a:t>
            </a:r>
            <a:r>
              <a:rPr b="0" sz="900">
                <a:solidFill>
                  <a:srgbClr val="9A9080"/>
                </a:solidFill>
              </a:rPr>
              <a:t>A hybrid pkpd-machine learning framework for precision dosing and drug repurposing: Advancing ai applications in personalized pharmacotherapy. 2025 3rd DMIHER International Conference on Artificial Intelligence in Healthcare, Education and Industry (IDICAIHEI), 1–4. https://doi.org/10.1109/IDICAIHEI65991.2025.11378446</a:t>
            </a:r>
          </a:p>
        </p:txBody>
      </p:sp>
      <p:sp>
        <p:nvSpPr>
          <p:cNvPr id="766" name="TextBox 18"/>
          <p:cNvSpPr txBox="1"/>
          <p:nvPr/>
        </p:nvSpPr>
        <p:spPr>
          <a:xfrm>
            <a:off x="6263640" y="5230367"/>
            <a:ext cx="5532121" cy="419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E8845A"/>
                </a:solidFill>
              </a:defRPr>
            </a:pPr>
            <a:r>
              <a:t>Han, S., Lee, J. E., Kang, S., So, M., Jin, H., Lee, J. H., ... &amp; Lee, Y. S. (2024). </a:t>
            </a:r>
            <a:r>
              <a:rPr b="0" sz="900">
                <a:solidFill>
                  <a:srgbClr val="9A9080"/>
                </a:solidFill>
              </a:rPr>
              <a:t>Standigm ASK™: knowledge graph and artificial intelligence platform applied to target discovery in idiopathic pulmonary fibrosis. Briefings in bioinformatics, 25(2), bbae035.</a:t>
            </a:r>
          </a:p>
        </p:txBody>
      </p:sp>
      <p:sp>
        <p:nvSpPr>
          <p:cNvPr id="767" name="Rectangle 19"/>
          <p:cNvSpPr/>
          <p:nvPr/>
        </p:nvSpPr>
        <p:spPr>
          <a:xfrm>
            <a:off x="6062471" y="1325880"/>
            <a:ext cx="12701" cy="5303521"/>
          </a:xfrm>
          <a:prstGeom prst="rect">
            <a:avLst/>
          </a:prstGeom>
          <a:solidFill>
            <a:srgbClr val="3A353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